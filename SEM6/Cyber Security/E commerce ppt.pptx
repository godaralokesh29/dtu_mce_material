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302" r:id="rId6"/>
    <p:sldId id="307" r:id="rId7"/>
    <p:sldId id="289" r:id="rId8"/>
    <p:sldId id="290" r:id="rId9"/>
    <p:sldId id="291" r:id="rId10"/>
    <p:sldId id="262" r:id="rId11"/>
    <p:sldId id="263" r:id="rId12"/>
    <p:sldId id="264" r:id="rId13"/>
    <p:sldId id="265" r:id="rId14"/>
    <p:sldId id="266" r:id="rId15"/>
    <p:sldId id="267" r:id="rId16"/>
    <p:sldId id="268" r:id="rId17"/>
    <p:sldId id="270" r:id="rId18"/>
    <p:sldId id="271" r:id="rId19"/>
    <p:sldId id="277" r:id="rId20"/>
    <p:sldId id="278" r:id="rId21"/>
    <p:sldId id="279" r:id="rId22"/>
    <p:sldId id="286" r:id="rId23"/>
    <p:sldId id="287" r:id="rId24"/>
    <p:sldId id="288" r:id="rId25"/>
    <p:sldId id="292" r:id="rId26"/>
    <p:sldId id="308" r:id="rId27"/>
    <p:sldId id="303" r:id="rId28"/>
    <p:sldId id="304" r:id="rId29"/>
    <p:sldId id="309" r:id="rId30"/>
    <p:sldId id="305" r:id="rId31"/>
    <p:sldId id="310" r:id="rId32"/>
    <p:sldId id="306" r:id="rId33"/>
    <p:sldId id="295" r:id="rId34"/>
    <p:sldId id="296" r:id="rId35"/>
    <p:sldId id="297" r:id="rId36"/>
    <p:sldId id="298" r:id="rId37"/>
    <p:sldId id="299" r:id="rId38"/>
    <p:sldId id="300" r:id="rId39"/>
    <p:sldId id="301" r:id="rId40"/>
    <p:sldId id="293" r:id="rId41"/>
    <p:sldId id="294" r:id="rId42"/>
  </p:sldIdLst>
  <p:sldSz cx="14287500" cy="80581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0"/>
    <p:restoredTop sz="86637"/>
  </p:normalViewPr>
  <p:slideViewPr>
    <p:cSldViewPr snapToGrid="0" snapToObjects="1">
      <p:cViewPr varScale="1">
        <p:scale>
          <a:sx n="84" d="100"/>
          <a:sy n="84" d="100"/>
        </p:scale>
        <p:origin x="75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62DCB6-892C-6E45-8754-A0DEB2586A2C}" type="datetimeFigureOut">
              <a:rPr lang="en-US" smtClean="0"/>
              <a:t>4/7/26</a:t>
            </a:fld>
            <a:endParaRPr lang="en-US"/>
          </a:p>
        </p:txBody>
      </p:sp>
      <p:sp>
        <p:nvSpPr>
          <p:cNvPr id="4" name="Slide Image Placeholder 3"/>
          <p:cNvSpPr>
            <a:spLocks noGrp="1" noRot="1" noChangeAspect="1"/>
          </p:cNvSpPr>
          <p:nvPr>
            <p:ph type="sldImg" idx="2"/>
          </p:nvPr>
        </p:nvSpPr>
        <p:spPr>
          <a:xfrm>
            <a:off x="693738" y="1143000"/>
            <a:ext cx="54705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AD2BC4-1B26-5B42-8F74-8437799DFDD5}" type="slidenum">
              <a:rPr lang="en-US" smtClean="0"/>
              <a:t>‹#›</a:t>
            </a:fld>
            <a:endParaRPr lang="en-US"/>
          </a:p>
        </p:txBody>
      </p:sp>
    </p:spTree>
    <p:extLst>
      <p:ext uri="{BB962C8B-B14F-4D97-AF65-F5344CB8AC3E}">
        <p14:creationId xmlns:p14="http://schemas.microsoft.com/office/powerpoint/2010/main" val="673594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www.google.com/url?sa=E&amp;q=https%3A%2F%2Fwww.cs-cart.com%2Fblog%2Fhow-downtime-can-threaten-your-sales%2F" TargetMode="External"/><Relationship Id="rId3" Type="http://schemas.openxmlformats.org/officeDocument/2006/relationships/hyperlink" Target="https://www.google.com/url?sa=E&amp;q=https%3A%2F%2Fthectoclub.com%2Ftools%2Fbest-encryption-software%2F" TargetMode="External"/><Relationship Id="rId7" Type="http://schemas.openxmlformats.org/officeDocument/2006/relationships/hyperlink" Target="https://www.google.com/url?sa=E&amp;q=https%3A%2F%2Fwritesonic.com%2Fblog%2Fai-content-generators"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www.google.com/url?sa=E&amp;q=https%3A%2F%2Fwww.getastra.com%2Fblog%2Fsecurity-audit%2Fbest-vulnerability-scanners%2F" TargetMode="External"/><Relationship Id="rId5" Type="http://schemas.openxmlformats.org/officeDocument/2006/relationships/hyperlink" Target="https://www.google.com/url?sa=E&amp;q=https%3A%2F%2Fbacklinko.com%2Ftools%2Fwebsite-rank-checker" TargetMode="External"/><Relationship Id="rId4" Type="http://schemas.openxmlformats.org/officeDocument/2006/relationships/hyperlink" Target="https://www.google.com/url?sa=E&amp;q=https%3A%2F%2Ftechbii.com%2Fhttp-to-https-migration-guide-seo-checklist%2F" TargetMode="External"/><Relationship Id="rId9" Type="http://schemas.openxmlformats.org/officeDocument/2006/relationships/hyperlink" Target="https://www.google.com/url?sa=E&amp;q=https%3A%2F%2Fbetterstack.com%2Fcommunity%2Fcomparisons%2Fpagerduty-alternatives%2F"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google.com/url?sa=E&amp;q=https%3A%2F%2Fwww.ibm.com%2Freports%2Fdata-breach"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 Secure Sockets Layer (SSL) or Transport Layer Security (TLS) protocols are commonly used to encrypt data.</a:t>
            </a:r>
          </a:p>
          <a:p>
            <a:r>
              <a:rPr lang="en-IN" sz="1200" dirty="0"/>
              <a:t>This includes protection against malware, viruses, and other cyber threats.</a:t>
            </a:r>
            <a:endParaRPr lang="en-US" dirty="0"/>
          </a:p>
        </p:txBody>
      </p:sp>
      <p:sp>
        <p:nvSpPr>
          <p:cNvPr id="4" name="Slide Number Placeholder 3"/>
          <p:cNvSpPr>
            <a:spLocks noGrp="1"/>
          </p:cNvSpPr>
          <p:nvPr>
            <p:ph type="sldNum" sz="quarter" idx="5"/>
          </p:nvPr>
        </p:nvSpPr>
        <p:spPr/>
        <p:txBody>
          <a:bodyPr/>
          <a:lstStyle/>
          <a:p>
            <a:fld id="{5DAD2BC4-1B26-5B42-8F74-8437799DFDD5}" type="slidenum">
              <a:rPr lang="en-US" smtClean="0"/>
              <a:t>4</a:t>
            </a:fld>
            <a:endParaRPr lang="en-US"/>
          </a:p>
        </p:txBody>
      </p:sp>
    </p:spTree>
    <p:extLst>
      <p:ext uri="{BB962C8B-B14F-4D97-AF65-F5344CB8AC3E}">
        <p14:creationId xmlns:p14="http://schemas.microsoft.com/office/powerpoint/2010/main" val="1825990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dirty="0"/>
          </a:p>
        </p:txBody>
      </p:sp>
      <p:sp>
        <p:nvSpPr>
          <p:cNvPr id="4" name="Slide Number Placeholder 3"/>
          <p:cNvSpPr>
            <a:spLocks noGrp="1"/>
          </p:cNvSpPr>
          <p:nvPr>
            <p:ph type="sldNum" sz="quarter" idx="5"/>
          </p:nvPr>
        </p:nvSpPr>
        <p:spPr/>
        <p:txBody>
          <a:bodyPr/>
          <a:lstStyle/>
          <a:p>
            <a:fld id="{5DAD2BC4-1B26-5B42-8F74-8437799DFDD5}" type="slidenum">
              <a:rPr lang="en-US" smtClean="0"/>
              <a:t>7</a:t>
            </a:fld>
            <a:endParaRPr lang="en-US"/>
          </a:p>
        </p:txBody>
      </p:sp>
    </p:spTree>
    <p:extLst>
      <p:ext uri="{BB962C8B-B14F-4D97-AF65-F5344CB8AC3E}">
        <p14:creationId xmlns:p14="http://schemas.microsoft.com/office/powerpoint/2010/main" val="2673815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 combat these risks, eCommerce security solutions have become essential for protecting both business operations and customer data. Top e-commerce threats necessitate the implementation of the top e-commerce security solutions. Here is a noteworthy list of e-commerce security solutions.</a:t>
            </a:r>
          </a:p>
          <a:p>
            <a:r>
              <a:rPr lang="en-IN" b="1" dirty="0"/>
              <a:t>Solution 1: Implement A Secure Firewall</a:t>
            </a:r>
            <a:endParaRPr lang="en-IN" dirty="0"/>
          </a:p>
          <a:p>
            <a:r>
              <a:rPr lang="en-IN" dirty="0"/>
              <a:t>A robust firewall system like Astra Firewall can detect and mitigate DDoS attacks on websites. It acts as a barrier against malicious traffic and ensures that your e-commerce site remains accessible and keeps away fishy networks, XSS, SQL injection, and DDoS attacks. They also help regulate network traffic to and from your online store.</a:t>
            </a:r>
          </a:p>
          <a:p>
            <a:r>
              <a:rPr lang="en-IN" b="1" dirty="0"/>
              <a:t>Solution 2: Secure Payment Gateways</a:t>
            </a:r>
            <a:endParaRPr lang="en-IN" dirty="0"/>
          </a:p>
          <a:p>
            <a:r>
              <a:rPr lang="en-IN" dirty="0"/>
              <a:t>Do not store client credit card information on your database. Rather, use trusted third-party services like PayPal and Stripe to handle payment transactions away from your website. This ensures better safety for your customers’ personal and financial data. If your business does store financial information, compliance with PCI-DSS is mandatory.</a:t>
            </a:r>
          </a:p>
          <a:p>
            <a:r>
              <a:rPr lang="en-IN" b="1" dirty="0"/>
              <a:t>Solution 3: Switch to HTTPS Protocol</a:t>
            </a:r>
            <a:endParaRPr lang="en-IN" dirty="0"/>
          </a:p>
          <a:p>
            <a:r>
              <a:rPr lang="en-IN" dirty="0"/>
              <a:t>Using outdated HTTP protocols can put your e-commerce website and your customers at risk. </a:t>
            </a:r>
            <a:r>
              <a:rPr lang="en-IN" u="sng" dirty="0">
                <a:hlinkClick r:id="rId3"/>
              </a:rPr>
              <a:t>Proper encryption software</a:t>
            </a:r>
            <a:r>
              <a:rPr lang="en-IN" dirty="0"/>
              <a:t> will use HTTPS to encrypt data transmitted between the user’s browser and the website. It displays a trustworthy green lock symbol on the URL bar. This ensures that sensitive information submitted by customers and their user data remains confidential, enhancing overall eCommerce security.</a:t>
            </a:r>
          </a:p>
          <a:p>
            <a:r>
              <a:rPr lang="en-IN" dirty="0"/>
              <a:t>HTTP protocols are defunct and most browsers either display users with a warning message or outright block access to such sites. </a:t>
            </a:r>
            <a:r>
              <a:rPr lang="en-IN" u="sng" dirty="0">
                <a:hlinkClick r:id="rId4"/>
              </a:rPr>
              <a:t>Switch to HTTPS</a:t>
            </a:r>
            <a:r>
              <a:rPr lang="en-IN" dirty="0"/>
              <a:t> as it also will help your e-commerce business rank better on Google (you can </a:t>
            </a:r>
            <a:r>
              <a:rPr lang="en-IN" u="sng" dirty="0">
                <a:hlinkClick r:id="rId5"/>
              </a:rPr>
              <a:t>track website rankings with Backlinko’s free tool</a:t>
            </a:r>
            <a:r>
              <a:rPr lang="en-IN" dirty="0"/>
              <a:t>) since HTTPS is a ranking factor for it.</a:t>
            </a:r>
          </a:p>
          <a:p>
            <a:r>
              <a:rPr lang="en-IN" b="1" dirty="0"/>
              <a:t>Solution 4: Carry out Vulnerability Scans</a:t>
            </a:r>
            <a:endParaRPr lang="en-IN" dirty="0"/>
          </a:p>
          <a:p>
            <a:r>
              <a:rPr lang="en-IN" dirty="0"/>
              <a:t>Use automated </a:t>
            </a:r>
            <a:r>
              <a:rPr lang="en-IN" u="sng" dirty="0">
                <a:hlinkClick r:id="rId6"/>
              </a:rPr>
              <a:t>vulnerability scanning tools</a:t>
            </a:r>
            <a:r>
              <a:rPr lang="en-IN" dirty="0"/>
              <a:t> like Astra Vulnerability Scanner or OWASP ZAP to carry out quick website vulnerability scans. Ensure that the tools also provide vulnerability scan reports with severity scores and remediation steps so that mitigation of the vulnerabilities is easier for you. The tool should also have a wide, constantly evolving vulnerability database for the detection of the latest vulnerabilities.</a:t>
            </a:r>
          </a:p>
          <a:p>
            <a:r>
              <a:rPr lang="en-IN" b="1" dirty="0"/>
              <a:t>Solution 5: Use Anti-malware and Anti-Virus Software</a:t>
            </a:r>
            <a:endParaRPr lang="en-IN" dirty="0"/>
          </a:p>
          <a:p>
            <a:r>
              <a:rPr lang="en-IN" dirty="0"/>
              <a:t>Regularly scan your website for malware using anti-malware and antivirus software. This helps identify and eliminate malicious code, reducing the risk of spamming and malware infections. </a:t>
            </a:r>
            <a:r>
              <a:rPr lang="en-IN" u="sng" dirty="0">
                <a:hlinkClick r:id="rId7"/>
              </a:rPr>
              <a:t>AI content generators</a:t>
            </a:r>
            <a:r>
              <a:rPr lang="en-IN" dirty="0"/>
              <a:t> can also assist in creating unique and engaging content that enhances your website’s value to customers.</a:t>
            </a:r>
          </a:p>
          <a:p>
            <a:r>
              <a:rPr lang="en-IN" dirty="0"/>
              <a:t>Anti-malware software helps detect, remove, and prevent infectious software from infecting your devices and systems. On the other hand, antivirus software keeps viruses at bay.</a:t>
            </a:r>
          </a:p>
          <a:p>
            <a:r>
              <a:rPr lang="en-IN" b="1" dirty="0"/>
              <a:t>Solution 6: Have a Multi-layered Security</a:t>
            </a:r>
            <a:endParaRPr lang="en-IN" dirty="0"/>
          </a:p>
          <a:p>
            <a:r>
              <a:rPr lang="en-IN" dirty="0"/>
              <a:t>Utilize a multi-layer security approach that includes CAPTCHA tests, and bot detection tools to differentiate between genuine users and malicious bots. Multifactor authentication can be enabled too so that genuine customers have the additional security and it protects your site from any unauthorized requests. 2FA which uses OTP (one-time password) with personal identification is a popular method of authentication.</a:t>
            </a:r>
          </a:p>
          <a:p>
            <a:r>
              <a:rPr lang="en-IN" b="1" dirty="0"/>
              <a:t>Solution 7: Have Backups for Data</a:t>
            </a:r>
            <a:endParaRPr lang="en-IN" dirty="0"/>
          </a:p>
          <a:p>
            <a:r>
              <a:rPr lang="en-IN" dirty="0"/>
              <a:t>Regularly back up your website data and configurations. This helps you quickly restore your e-commerce platform to a clean state in case of a breach or attack. Having backups minimizes the </a:t>
            </a:r>
            <a:r>
              <a:rPr lang="en-IN" u="sng" dirty="0">
                <a:hlinkClick r:id="rId8"/>
              </a:rPr>
              <a:t>downtime</a:t>
            </a:r>
            <a:r>
              <a:rPr lang="en-IN" dirty="0"/>
              <a:t>, data loss, and revenue loss experienced by your business.</a:t>
            </a:r>
          </a:p>
          <a:p>
            <a:r>
              <a:rPr lang="en-IN" b="1" dirty="0"/>
              <a:t>Solution 8: Stay Current on E-commerce Threats</a:t>
            </a:r>
            <a:endParaRPr lang="en-IN" dirty="0"/>
          </a:p>
          <a:p>
            <a:r>
              <a:rPr lang="en-IN" dirty="0"/>
              <a:t>Continuously monitor your website’s software using </a:t>
            </a:r>
            <a:r>
              <a:rPr lang="en-IN" u="sng" dirty="0">
                <a:hlinkClick r:id="rId9"/>
              </a:rPr>
              <a:t>Pagerduty alternatives</a:t>
            </a:r>
            <a:r>
              <a:rPr lang="en-IN" dirty="0"/>
              <a:t> to detect and mitigate vulnerabilities. It is vital that as an e-commerce business owner, you stay informed about evolving threats that can affect your business. Your employees and customers should also have awareness of the latest knowledge concerning handling user data and safe website engagement. It is also important to revoke access for former employees from your systems.</a:t>
            </a:r>
          </a:p>
          <a:p>
            <a:r>
              <a:rPr lang="en-IN" b="1" dirty="0"/>
              <a:t>Conclusion</a:t>
            </a:r>
            <a:endParaRPr lang="en-IN" dirty="0"/>
          </a:p>
          <a:p>
            <a:endParaRPr lang="en-US" dirty="0"/>
          </a:p>
        </p:txBody>
      </p:sp>
      <p:sp>
        <p:nvSpPr>
          <p:cNvPr id="4" name="Slide Number Placeholder 3"/>
          <p:cNvSpPr>
            <a:spLocks noGrp="1"/>
          </p:cNvSpPr>
          <p:nvPr>
            <p:ph type="sldNum" sz="quarter" idx="5"/>
          </p:nvPr>
        </p:nvSpPr>
        <p:spPr/>
        <p:txBody>
          <a:bodyPr/>
          <a:lstStyle/>
          <a:p>
            <a:fld id="{5DAD2BC4-1B26-5B42-8F74-8437799DFDD5}" type="slidenum">
              <a:rPr lang="en-US" smtClean="0"/>
              <a:t>9</a:t>
            </a:fld>
            <a:endParaRPr lang="en-US"/>
          </a:p>
        </p:txBody>
      </p:sp>
    </p:spTree>
    <p:extLst>
      <p:ext uri="{BB962C8B-B14F-4D97-AF65-F5344CB8AC3E}">
        <p14:creationId xmlns:p14="http://schemas.microsoft.com/office/powerpoint/2010/main" val="4006553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NEFT</a:t>
            </a:r>
            <a:r>
              <a:rPr lang="en-IN" dirty="0"/>
              <a:t> – </a:t>
            </a:r>
            <a:r>
              <a:rPr lang="en-IN" b="1" dirty="0"/>
              <a:t>National Electronic Funds Transfer</a:t>
            </a:r>
            <a:r>
              <a:rPr lang="en-IN" dirty="0"/>
              <a:t> </a:t>
            </a:r>
            <a:r>
              <a:rPr lang="en-IN" b="1" dirty="0"/>
              <a:t>RTGS</a:t>
            </a:r>
            <a:r>
              <a:rPr lang="en-IN" dirty="0"/>
              <a:t> – </a:t>
            </a:r>
            <a:r>
              <a:rPr lang="en-IN" b="1" dirty="0"/>
              <a:t>Real Time Gross Settlement</a:t>
            </a:r>
            <a:r>
              <a:rPr lang="en-IN" dirty="0"/>
              <a:t> </a:t>
            </a:r>
            <a:r>
              <a:rPr lang="en-IN" b="1" dirty="0"/>
              <a:t>IMPS</a:t>
            </a:r>
            <a:r>
              <a:rPr lang="en-IN" dirty="0"/>
              <a:t> – </a:t>
            </a:r>
            <a:r>
              <a:rPr lang="en-IN" b="1" dirty="0"/>
              <a:t>Immediate Payment Service</a:t>
            </a:r>
          </a:p>
          <a:p>
            <a:r>
              <a:rPr lang="en-IN" b="1" dirty="0"/>
              <a:t>NEFT:</a:t>
            </a:r>
            <a:r>
              <a:rPr lang="en-IN" dirty="0"/>
              <a:t> Batch-based fund transfer (processed in intervals) </a:t>
            </a:r>
            <a:r>
              <a:rPr lang="en-IN" b="1" dirty="0"/>
              <a:t>RTGS:</a:t>
            </a:r>
            <a:r>
              <a:rPr lang="en-IN" dirty="0"/>
              <a:t> Real-time transfer for </a:t>
            </a:r>
            <a:r>
              <a:rPr lang="en-IN" b="1" dirty="0"/>
              <a:t>large amounts</a:t>
            </a:r>
            <a:r>
              <a:rPr lang="en-IN" dirty="0"/>
              <a:t> </a:t>
            </a:r>
            <a:r>
              <a:rPr lang="en-IN" b="1" dirty="0"/>
              <a:t>IMPS:</a:t>
            </a:r>
            <a:r>
              <a:rPr lang="en-IN" dirty="0"/>
              <a:t> Instant transfer available </a:t>
            </a:r>
            <a:r>
              <a:rPr lang="en-IN" b="1" dirty="0"/>
              <a:t>24×7</a:t>
            </a:r>
            <a:r>
              <a:rPr lang="en-IN" dirty="0"/>
              <a:t>, even for small amounts </a:t>
            </a:r>
            <a:endParaRPr lang="en-US" dirty="0"/>
          </a:p>
        </p:txBody>
      </p:sp>
      <p:sp>
        <p:nvSpPr>
          <p:cNvPr id="4" name="Slide Number Placeholder 3"/>
          <p:cNvSpPr>
            <a:spLocks noGrp="1"/>
          </p:cNvSpPr>
          <p:nvPr>
            <p:ph type="sldNum" sz="quarter" idx="5"/>
          </p:nvPr>
        </p:nvSpPr>
        <p:spPr/>
        <p:txBody>
          <a:bodyPr/>
          <a:lstStyle/>
          <a:p>
            <a:fld id="{5DAD2BC4-1B26-5B42-8F74-8437799DFDD5}" type="slidenum">
              <a:rPr lang="en-US" smtClean="0"/>
              <a:t>17</a:t>
            </a:fld>
            <a:endParaRPr lang="en-US"/>
          </a:p>
        </p:txBody>
      </p:sp>
    </p:spTree>
    <p:extLst>
      <p:ext uri="{BB962C8B-B14F-4D97-AF65-F5344CB8AC3E}">
        <p14:creationId xmlns:p14="http://schemas.microsoft.com/office/powerpoint/2010/main" val="563711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An E-wallet is protected with a password. With the help of an E-wallet, one can make payments for groceries, online purchases, and flight tickets,</a:t>
            </a:r>
          </a:p>
          <a:p>
            <a:pPr marL="0" indent="0">
              <a:buNone/>
            </a:pPr>
            <a:r>
              <a:rPr lang="en-IN" dirty="0"/>
              <a:t>       among others.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E-wallet has mainly two components, software and information. The software component stores personal information and provides security and encryption of the data. The information component is a database of details provided by the user which includes their name, shipping address, payment method, amount to be paid, credit or debit card details, etc. Services like PayPal, Google Pay, Apple Pay, and Paytm fall under this category.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number is operational across all Telecom Service Providers (TSPs) and allows customers to avail of services including interbank account to account fund transfer, balance inquiry, and availing mini statements. Around 51 leading banks offer USSD service in 12 different languages, including Hindi &amp; English.</a:t>
            </a:r>
          </a:p>
          <a:p>
            <a:endParaRPr lang="en-US" dirty="0"/>
          </a:p>
        </p:txBody>
      </p:sp>
      <p:sp>
        <p:nvSpPr>
          <p:cNvPr id="4" name="Slide Number Placeholder 3"/>
          <p:cNvSpPr>
            <a:spLocks noGrp="1"/>
          </p:cNvSpPr>
          <p:nvPr>
            <p:ph type="sldNum" sz="quarter" idx="5"/>
          </p:nvPr>
        </p:nvSpPr>
        <p:spPr/>
        <p:txBody>
          <a:bodyPr/>
          <a:lstStyle/>
          <a:p>
            <a:fld id="{5DAD2BC4-1B26-5B42-8F74-8437799DFDD5}" type="slidenum">
              <a:rPr lang="en-US" smtClean="0"/>
              <a:t>18</a:t>
            </a:fld>
            <a:endParaRPr lang="en-US"/>
          </a:p>
        </p:txBody>
      </p:sp>
    </p:spTree>
    <p:extLst>
      <p:ext uri="{BB962C8B-B14F-4D97-AF65-F5344CB8AC3E}">
        <p14:creationId xmlns:p14="http://schemas.microsoft.com/office/powerpoint/2010/main" val="4020302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While card issuers and banks protect consumers from card fraud, merchants have little protection against chargeback fraud.</a:t>
            </a:r>
          </a:p>
          <a:p>
            <a:r>
              <a:rPr lang="en-IN" dirty="0"/>
              <a:t>Consumers can initiate chargebacks through their banks, and merchants have to try to prove that the cardholder authorised the transaction. Although merchants can </a:t>
            </a:r>
            <a:r>
              <a:rPr lang="en-IN" u="sng" dirty="0"/>
              <a:t>contest chargebacks</a:t>
            </a:r>
            <a:r>
              <a:rPr lang="en-IN" dirty="0"/>
              <a:t>, banks and card issuers often rule in favour of consumers, resulting in losses and chargeback fees for merchants.</a:t>
            </a:r>
          </a:p>
          <a:p>
            <a:endParaRPr lang="en-US" dirty="0"/>
          </a:p>
        </p:txBody>
      </p:sp>
      <p:sp>
        <p:nvSpPr>
          <p:cNvPr id="4" name="Slide Number Placeholder 3"/>
          <p:cNvSpPr>
            <a:spLocks noGrp="1"/>
          </p:cNvSpPr>
          <p:nvPr>
            <p:ph type="sldNum" sz="quarter" idx="5"/>
          </p:nvPr>
        </p:nvSpPr>
        <p:spPr/>
        <p:txBody>
          <a:bodyPr/>
          <a:lstStyle/>
          <a:p>
            <a:fld id="{5DAD2BC4-1B26-5B42-8F74-8437799DFDD5}" type="slidenum">
              <a:rPr lang="en-US" smtClean="0"/>
              <a:t>27</a:t>
            </a:fld>
            <a:endParaRPr lang="en-US"/>
          </a:p>
        </p:txBody>
      </p:sp>
    </p:spTree>
    <p:extLst>
      <p:ext uri="{BB962C8B-B14F-4D97-AF65-F5344CB8AC3E}">
        <p14:creationId xmlns:p14="http://schemas.microsoft.com/office/powerpoint/2010/main" val="1953886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Banks tend to refund their customers, which means they lose money in the short term. However, banks and card companies can claim that the merchant is liable, blaming poor security.</a:t>
            </a:r>
          </a:p>
          <a:p>
            <a:r>
              <a:rPr lang="en-IN" dirty="0"/>
              <a:t>When you pay online (no physical card), it’s called a </a:t>
            </a:r>
            <a:r>
              <a:rPr lang="en-IN" b="1" dirty="0"/>
              <a:t>CNP transaction</a:t>
            </a:r>
            <a:r>
              <a:rPr lang="en-IN" dirty="0"/>
              <a:t>. Since there’s no PIN entry at a machine, it’s less secure.</a:t>
            </a:r>
          </a:p>
          <a:p>
            <a:r>
              <a:rPr lang="en-IN" dirty="0"/>
              <a:t>To improve safety, regulators introduced </a:t>
            </a:r>
            <a:r>
              <a:rPr lang="en-IN" b="1" dirty="0"/>
              <a:t>SCA (Strong Customer Authentication)</a:t>
            </a:r>
            <a:r>
              <a:rPr lang="en-IN" dirty="0"/>
              <a:t> — like OTP verification.</a:t>
            </a:r>
          </a:p>
          <a:p>
            <a:r>
              <a:rPr lang="en-IN" b="1" dirty="0"/>
              <a:t>Real-world example:</a:t>
            </a:r>
            <a:br>
              <a:rPr lang="en-IN" dirty="0"/>
            </a:br>
            <a:r>
              <a:rPr lang="en-IN" dirty="0"/>
              <a:t>While shopping on Flipkart or Amazon, you enter card details + receive an </a:t>
            </a:r>
            <a:r>
              <a:rPr lang="en-IN" b="1" dirty="0"/>
              <a:t>OTP on your phone</a:t>
            </a:r>
            <a:r>
              <a:rPr lang="en-IN" dirty="0"/>
              <a:t> to complete payment.</a:t>
            </a:r>
          </a:p>
          <a:p>
            <a:endParaRPr lang="en-US" dirty="0"/>
          </a:p>
        </p:txBody>
      </p:sp>
      <p:sp>
        <p:nvSpPr>
          <p:cNvPr id="4" name="Slide Number Placeholder 3"/>
          <p:cNvSpPr>
            <a:spLocks noGrp="1"/>
          </p:cNvSpPr>
          <p:nvPr>
            <p:ph type="sldNum" sz="quarter" idx="5"/>
          </p:nvPr>
        </p:nvSpPr>
        <p:spPr/>
        <p:txBody>
          <a:bodyPr/>
          <a:lstStyle/>
          <a:p>
            <a:fld id="{5DAD2BC4-1B26-5B42-8F74-8437799DFDD5}" type="slidenum">
              <a:rPr lang="en-US" smtClean="0"/>
              <a:t>29</a:t>
            </a:fld>
            <a:endParaRPr lang="en-US"/>
          </a:p>
        </p:txBody>
      </p:sp>
    </p:spTree>
    <p:extLst>
      <p:ext uri="{BB962C8B-B14F-4D97-AF65-F5344CB8AC3E}">
        <p14:creationId xmlns:p14="http://schemas.microsoft.com/office/powerpoint/2010/main" val="872966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Machine learning (ML) algorithms are making fraud detection software more effective. It finds patterns in a dataset without explicit programming. With ML, fraud detection systems can more accurately pinpoint fraudulent credit card transactions, decreasing the number of false positives.</a:t>
            </a:r>
          </a:p>
          <a:p>
            <a:r>
              <a:rPr lang="en-IN" dirty="0"/>
              <a:t>However, this kind of software is about detecting and blocking fraud, and while it helps, it’s not 100% effective. If businesses reduce fraudulent attempts, they won't need to spend as much energy and resources on detecting them.</a:t>
            </a:r>
          </a:p>
          <a:p>
            <a:pPr marL="0" marR="0" lvl="0" indent="0" algn="l" defTabSz="914400" rtl="0" eaLnBrk="1" fontAlgn="auto" latinLnBrk="0" hangingPunct="1">
              <a:lnSpc>
                <a:spcPct val="100000"/>
              </a:lnSpc>
              <a:spcBef>
                <a:spcPts val="0"/>
              </a:spcBef>
              <a:spcAft>
                <a:spcPts val="0"/>
              </a:spcAft>
              <a:buClrTx/>
              <a:buSzTx/>
              <a:buFontTx/>
              <a:buNone/>
              <a:tabLst/>
              <a:defRPr/>
            </a:pPr>
            <a:r>
              <a:rPr lang="en-IN" u="sng" dirty="0"/>
              <a:t>Most examples today</a:t>
            </a:r>
            <a:r>
              <a:rPr lang="en-IN" dirty="0"/>
              <a:t> show that it adds significant friction to the online commerce experience. On the other hand, open banking user flows have been designed and refined to comply with SCA in a simple and consistent way.</a:t>
            </a:r>
          </a:p>
          <a:p>
            <a:endParaRPr lang="en-US" dirty="0"/>
          </a:p>
        </p:txBody>
      </p:sp>
      <p:sp>
        <p:nvSpPr>
          <p:cNvPr id="4" name="Slide Number Placeholder 3"/>
          <p:cNvSpPr>
            <a:spLocks noGrp="1"/>
          </p:cNvSpPr>
          <p:nvPr>
            <p:ph type="sldNum" sz="quarter" idx="5"/>
          </p:nvPr>
        </p:nvSpPr>
        <p:spPr/>
        <p:txBody>
          <a:bodyPr/>
          <a:lstStyle/>
          <a:p>
            <a:fld id="{5DAD2BC4-1B26-5B42-8F74-8437799DFDD5}" type="slidenum">
              <a:rPr lang="en-US" smtClean="0"/>
              <a:t>32</a:t>
            </a:fld>
            <a:endParaRPr lang="en-US"/>
          </a:p>
        </p:txBody>
      </p:sp>
    </p:spTree>
    <p:extLst>
      <p:ext uri="{BB962C8B-B14F-4D97-AF65-F5344CB8AC3E}">
        <p14:creationId xmlns:p14="http://schemas.microsoft.com/office/powerpoint/2010/main" val="8332297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IN" dirty="0"/>
              <a:t>On top of avoiding those fines, you can expect that if you’re doing business with new vendors, partners, or other key stakeholders, they may ask if you’re PCI compliant. They want to know that they’re doing business with someone that does their due diligence, and lack of compliance can be a deal breaker for customers.</a:t>
            </a:r>
          </a:p>
          <a:p>
            <a:pPr algn="just"/>
            <a:r>
              <a:rPr lang="en-IN" dirty="0"/>
              <a:t>Finally, remember that PCI compliance isn’t just about marking off a checklist. The standards exist for a reason: to protect customer payment data. If you’re abiding by the PCI DSS, you’ll have a lower risk for data breaches (and the PR nightmares, loss of trust, and potential legal liabilities that come with them).</a:t>
            </a:r>
          </a:p>
          <a:p>
            <a:r>
              <a:rPr lang="en-IN" dirty="0"/>
              <a:t>‍</a:t>
            </a:r>
          </a:p>
          <a:p>
            <a:endParaRPr lang="en-US" dirty="0"/>
          </a:p>
        </p:txBody>
      </p:sp>
      <p:sp>
        <p:nvSpPr>
          <p:cNvPr id="4" name="Slide Number Placeholder 3"/>
          <p:cNvSpPr>
            <a:spLocks noGrp="1"/>
          </p:cNvSpPr>
          <p:nvPr>
            <p:ph type="sldNum" sz="quarter" idx="5"/>
          </p:nvPr>
        </p:nvSpPr>
        <p:spPr/>
        <p:txBody>
          <a:bodyPr/>
          <a:lstStyle/>
          <a:p>
            <a:fld id="{5DAD2BC4-1B26-5B42-8F74-8437799DFDD5}" type="slidenum">
              <a:rPr lang="en-US" smtClean="0"/>
              <a:t>39</a:t>
            </a:fld>
            <a:endParaRPr lang="en-US"/>
          </a:p>
        </p:txBody>
      </p:sp>
    </p:spTree>
    <p:extLst>
      <p:ext uri="{BB962C8B-B14F-4D97-AF65-F5344CB8AC3E}">
        <p14:creationId xmlns:p14="http://schemas.microsoft.com/office/powerpoint/2010/main" val="2265663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Customers increasingly know their data privacy rights and expect businesses to handle their personal data responsibly. GDPR provides clear guidelines for managing customer data, from obtaining explicit consent to ensuring transparency in data processing activities. By adhering to GDPR, ecommerce businesses can demonstrate their commitment to data privacy and foster customer trust and loyalty.</a:t>
            </a:r>
          </a:p>
          <a:p>
            <a:r>
              <a:rPr lang="en-IN" dirty="0"/>
              <a:t>Non-compliance with GDPR can result in hefty fines of up to €20 million or 4% of a business’s global turnover, whichever is higher. For ecommerce businesses, particularly small and medium-sized ones, these fines can be financially crippling. Moreover, non-compliance can lead to significant reputational damage, as data breaches or personal data mishandling can lead to customer loss.</a:t>
            </a:r>
          </a:p>
          <a:p>
            <a:r>
              <a:rPr lang="en-IN" dirty="0"/>
              <a:t>GDPR mandates strict security measures to protect personal data from unauthorised access, breaches, and misuse. By implementing these measures, ecommerce businesses can reduce the risk of data breaches, safeguarding their customers and business operations.</a:t>
            </a:r>
          </a:p>
          <a:p>
            <a:r>
              <a:rPr lang="en-IN" dirty="0"/>
              <a:t>As per </a:t>
            </a:r>
            <a:r>
              <a:rPr lang="en-IN" u="sng" dirty="0">
                <a:hlinkClick r:id="rId3"/>
              </a:rPr>
              <a:t>IBM report</a:t>
            </a:r>
            <a:r>
              <a:rPr lang="en-IN" dirty="0"/>
              <a:t>, the global average cost of a data breach in 2024 is $4.88 million—a 10% increase from last year and the highest ever recorded.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 a market where consumers are increasingly concerned about data privacy, being GDPR-compliant can set your ecommerce business apart from competitors. By openly communicating your commitment to data protection and compliance with GDPR, you can attract and retain customers who prioritise their privacy and are likelier to do business with a trustworthy and responsible brand.</a:t>
            </a:r>
          </a:p>
          <a:p>
            <a:endParaRPr lang="en-IN" dirty="0"/>
          </a:p>
          <a:p>
            <a:endParaRPr lang="en-US" dirty="0"/>
          </a:p>
        </p:txBody>
      </p:sp>
      <p:sp>
        <p:nvSpPr>
          <p:cNvPr id="4" name="Slide Number Placeholder 3"/>
          <p:cNvSpPr>
            <a:spLocks noGrp="1"/>
          </p:cNvSpPr>
          <p:nvPr>
            <p:ph type="sldNum" sz="quarter" idx="5"/>
          </p:nvPr>
        </p:nvSpPr>
        <p:spPr/>
        <p:txBody>
          <a:bodyPr/>
          <a:lstStyle/>
          <a:p>
            <a:fld id="{5DAD2BC4-1B26-5B42-8F74-8437799DFDD5}" type="slidenum">
              <a:rPr lang="en-US" smtClean="0"/>
              <a:t>40</a:t>
            </a:fld>
            <a:endParaRPr lang="en-US"/>
          </a:p>
        </p:txBody>
      </p:sp>
    </p:spTree>
    <p:extLst>
      <p:ext uri="{BB962C8B-B14F-4D97-AF65-F5344CB8AC3E}">
        <p14:creationId xmlns:p14="http://schemas.microsoft.com/office/powerpoint/2010/main" val="1345381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Consent:</a:t>
            </a:r>
            <a:br>
              <a:rPr lang="en-IN" dirty="0"/>
            </a:br>
            <a:r>
              <a:rPr lang="en-IN" dirty="0"/>
              <a:t>Customer gives permission</a:t>
            </a:r>
            <a:br>
              <a:rPr lang="en-IN" dirty="0"/>
            </a:br>
            <a:r>
              <a:rPr lang="en-IN" dirty="0"/>
              <a:t>👉 Example: You agree to receive promotional emails from Amazon </a:t>
            </a:r>
            <a:r>
              <a:rPr lang="en-IN" b="1" dirty="0"/>
              <a:t>Contractual Necessity:</a:t>
            </a:r>
            <a:br>
              <a:rPr lang="en-IN" dirty="0"/>
            </a:br>
            <a:r>
              <a:rPr lang="en-IN" dirty="0"/>
              <a:t>Needed to complete a service</a:t>
            </a:r>
            <a:br>
              <a:rPr lang="en-IN" dirty="0"/>
            </a:br>
            <a:r>
              <a:rPr lang="en-IN" dirty="0"/>
              <a:t>👉 Example: Your address is used to deliver an order from Flipkart </a:t>
            </a:r>
            <a:r>
              <a:rPr lang="en-IN" b="1" dirty="0"/>
              <a:t>Legal Obligation:</a:t>
            </a:r>
            <a:br>
              <a:rPr lang="en-IN" dirty="0"/>
            </a:br>
            <a:r>
              <a:rPr lang="en-IN" dirty="0"/>
              <a:t>Required by law</a:t>
            </a:r>
            <a:br>
              <a:rPr lang="en-IN" dirty="0"/>
            </a:br>
            <a:r>
              <a:rPr lang="en-IN" dirty="0"/>
              <a:t>👉 Example: Storing transaction records for tax purposes </a:t>
            </a:r>
            <a:r>
              <a:rPr lang="en-IN" b="1" dirty="0"/>
              <a:t>Legitimate Interest:</a:t>
            </a:r>
            <a:br>
              <a:rPr lang="en-IN" dirty="0"/>
            </a:br>
            <a:r>
              <a:rPr lang="en-IN" dirty="0"/>
              <a:t>Business interest without harming user rights</a:t>
            </a:r>
            <a:br>
              <a:rPr lang="en-IN" dirty="0"/>
            </a:br>
            <a:r>
              <a:rPr lang="en-IN" dirty="0"/>
              <a:t>👉 Example: Fraud detection systems</a:t>
            </a:r>
            <a:endParaRPr lang="en-US" dirty="0"/>
          </a:p>
        </p:txBody>
      </p:sp>
      <p:sp>
        <p:nvSpPr>
          <p:cNvPr id="4" name="Slide Number Placeholder 3"/>
          <p:cNvSpPr>
            <a:spLocks noGrp="1"/>
          </p:cNvSpPr>
          <p:nvPr>
            <p:ph type="sldNum" sz="quarter" idx="5"/>
          </p:nvPr>
        </p:nvSpPr>
        <p:spPr/>
        <p:txBody>
          <a:bodyPr/>
          <a:lstStyle/>
          <a:p>
            <a:fld id="{5DAD2BC4-1B26-5B42-8F74-8437799DFDD5}" type="slidenum">
              <a:rPr lang="en-US" smtClean="0"/>
              <a:t>41</a:t>
            </a:fld>
            <a:endParaRPr lang="en-US"/>
          </a:p>
        </p:txBody>
      </p:sp>
    </p:spTree>
    <p:extLst>
      <p:ext uri="{BB962C8B-B14F-4D97-AF65-F5344CB8AC3E}">
        <p14:creationId xmlns:p14="http://schemas.microsoft.com/office/powerpoint/2010/main" val="902925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flipkart.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www.google.com/url?sa=E&amp;q=https%3A%2F%2Fwww.mgt-commerce.com%2Fmagento-2-multi-server-pricin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google.com/url?sa=E&amp;q=https%3A%2F%2Fkeepnetlabs.com%2Fproducts%2Fphishing-simulator" TargetMode="External"/><Relationship Id="rId5" Type="http://schemas.openxmlformats.org/officeDocument/2006/relationships/hyperlink" Target="https://www.google.com/url?sa=E&amp;q=https%3A%2F%2Fen.wikipedia.org%2Fwiki%2FAddress_verification_service" TargetMode="External"/><Relationship Id="rId4" Type="http://schemas.openxmlformats.org/officeDocument/2006/relationships/hyperlink" Target="https://www.google.com/url?sa=E&amp;q=https%3A%2F%2Fwww.cs-cart.com%2Fblog%2Funderstanding-carding-a-comprehensive-guide-for-online-store-owners%2F"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google.com/url?sa=E&amp;q=https%3A%2F%2Fwww.scraperapi.com%2Fsolutions%2Fecommerce-data-collection%2Famazon-scraper%2F" TargetMode="External"/><Relationship Id="rId2" Type="http://schemas.openxmlformats.org/officeDocument/2006/relationships/hyperlink" Target="https://www.google.com/url?sa=E&amp;q=https%3A%2F%2Fapify.com%2Fstor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google.com/url?sa=E&amp;q=https%3A%2F%2Ftruelayer.com%2Fblog%2Fcompliance-and-regulation%2F"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google.com/url?sa=E&amp;q=https%3A%2F%2Fwww.juniperresearch.com%2Fpress%2Ftokenised-payment-transactions-to-exceed-1tn%2F" TargetMode="External"/><Relationship Id="rId2" Type="http://schemas.openxmlformats.org/officeDocument/2006/relationships/hyperlink" Target="https://www.google.com/url?sa=E&amp;q=https%3A%2F%2Fstripe.com%2Fresources%2Fmore%2Fpoint-to-point-encryption" TargetMode="External"/><Relationship Id="rId1" Type="http://schemas.openxmlformats.org/officeDocument/2006/relationships/slideLayout" Target="../slideLayouts/slideLayout2.xml"/><Relationship Id="rId5" Type="http://schemas.openxmlformats.org/officeDocument/2006/relationships/hyperlink" Target="https://www.google.com/url?sa=E&amp;q=https%3A%2F%2Fwww.infosecinstitute.com%2Fresources%2Fcryptography%2Fintroduction-to-the-rivest-shamir-adleman-rsa-encryption-algorithm%2F" TargetMode="External"/><Relationship Id="rId4" Type="http://schemas.openxmlformats.org/officeDocument/2006/relationships/hyperlink" Target="https://www.google.com/url?sa=E&amp;q=https%3A%2F%2Fwww.techtarget.com%2Fsearchsecurity%2Fdefinition%2FAdvanced-Encryption-Standard" TargetMode="External"/></Relationships>
</file>

<file path=ppt/slides/_rels/slide34.xml.rels><?xml version="1.0" encoding="UTF-8" standalone="yes"?>
<Relationships xmlns="http://schemas.openxmlformats.org/package/2006/relationships"><Relationship Id="rId2" Type="http://schemas.openxmlformats.org/officeDocument/2006/relationships/hyperlink" Target="https://www.google.com/url?sa=E&amp;q=https%3A%2F%2Fstripe.com%2Fresources%2Fmore%2Fhow-do-credit-card-networks-work"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google.com/url?sa=E&amp;q=https%3A%2F%2Fstripe.com%2Fresources%2Fmore%2Fhow-to-accept-mobile-credit-card-payments" TargetMode="External"/><Relationship Id="rId2" Type="http://schemas.openxmlformats.org/officeDocument/2006/relationships/hyperlink" Target="https://www.google.com/url?sa=E&amp;q=https%3A%2F%2Fwww.hhs.gov%2Fhipaa%2Ffor-professionals%2Fprivacy%2Flaws-regulations%2Findex.html"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google.com/url?sa=E&amp;q=https%3A%2F%2Fstripe.com%2Fresources%2Fmore%2Fpayment-security"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google.com/url?sa=E&amp;q=https%3A%2F%2Fwww.cloudflare.com%2Flearning%2Fssl%2Ftransport-layer-security-tls%2F"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google.com/url?sa=E&amp;q=https%3A%2F%2Fwww.vanta.com%2Fglossary%2Fpayment-card-industry-data-security-standard-pci-ds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google.com/url?sa=E&amp;q=https%3A%2F%2Fwww.vanta.com%2Fglossary%2Fgeneral-data-protection-regulation" TargetMode="External"/><Relationship Id="rId5" Type="http://schemas.openxmlformats.org/officeDocument/2006/relationships/hyperlink" Target="https://www.google.com/url?sa=E&amp;q=https%3A%2F%2Fwww.vanta.com%2Fglossary%2Fservice-provider" TargetMode="External"/><Relationship Id="rId4" Type="http://schemas.openxmlformats.org/officeDocument/2006/relationships/hyperlink" Target="https://www.google.com/url?sa=E&amp;q=https%3A%2F%2Fwww.vanta.com%2Fglossary%2Fmerchant"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www.google.com/url?sa=E&amp;q=https%3A%2F%2Fwww.sciencedirect.com%2Fscience%2Farticle%2Fpii%2FS1877050923003599%3Fref%3Dpdf_download%26fr%3DRR-2%26rr%3D8b6215adee263f9d"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4287500" cy="80581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233DD9-902D-4182-0AC0-FE4700A1EABB}"/>
              </a:ext>
            </a:extLst>
          </p:cNvPr>
          <p:cNvSpPr>
            <a:spLocks noGrp="1"/>
          </p:cNvSpPr>
          <p:nvPr>
            <p:ph type="title"/>
          </p:nvPr>
        </p:nvSpPr>
        <p:spPr>
          <a:xfrm>
            <a:off x="2423160" y="274638"/>
            <a:ext cx="8229600" cy="1143000"/>
          </a:xfrm>
        </p:spPr>
        <p:txBody>
          <a:bodyPr>
            <a:normAutofit fontScale="90000"/>
          </a:bodyPr>
          <a:lstStyle/>
          <a:p>
            <a:br>
              <a:rPr lang="en-IN" b="1" dirty="0"/>
            </a:br>
            <a:r>
              <a:rPr lang="en-IN" b="1" dirty="0"/>
              <a:t>Definition of E- Commerce</a:t>
            </a:r>
            <a:br>
              <a:rPr lang="en-IN" dirty="0"/>
            </a:br>
            <a:endParaRPr lang="en-US" dirty="0"/>
          </a:p>
        </p:txBody>
      </p:sp>
      <p:sp>
        <p:nvSpPr>
          <p:cNvPr id="4" name="Content Placeholder 3">
            <a:extLst>
              <a:ext uri="{FF2B5EF4-FFF2-40B4-BE49-F238E27FC236}">
                <a16:creationId xmlns:a16="http://schemas.microsoft.com/office/drawing/2014/main" id="{EA5CAA0C-8423-D849-F4E1-E5C717AAE4C7}"/>
              </a:ext>
            </a:extLst>
          </p:cNvPr>
          <p:cNvSpPr>
            <a:spLocks noGrp="1"/>
          </p:cNvSpPr>
          <p:nvPr>
            <p:ph idx="1"/>
          </p:nvPr>
        </p:nvSpPr>
        <p:spPr>
          <a:xfrm>
            <a:off x="457200" y="1600200"/>
            <a:ext cx="13319760" cy="6183312"/>
          </a:xfrm>
        </p:spPr>
        <p:txBody>
          <a:bodyPr>
            <a:normAutofit/>
          </a:bodyPr>
          <a:lstStyle/>
          <a:p>
            <a:r>
              <a:rPr lang="en-IN" dirty="0"/>
              <a:t>E-Commerce or Electronic Commerce means buying and selling of goods, products, or services</a:t>
            </a:r>
          </a:p>
          <a:p>
            <a:r>
              <a:rPr lang="en-IN" dirty="0"/>
              <a:t>over the internet.</a:t>
            </a:r>
          </a:p>
          <a:p>
            <a:r>
              <a:rPr lang="en-IN" dirty="0"/>
              <a:t>E-commerce is also known as electronic commerce or internet commerce.</a:t>
            </a:r>
          </a:p>
          <a:p>
            <a:r>
              <a:rPr lang="en-IN" dirty="0"/>
              <a:t>Transaction of money, funds, and data are also considered as E-commerce.</a:t>
            </a:r>
          </a:p>
          <a:p>
            <a:r>
              <a:rPr lang="en-IN" dirty="0"/>
              <a:t>These business transactions can be done in four ways: Business to Business (B2B), Business to</a:t>
            </a:r>
          </a:p>
          <a:p>
            <a:r>
              <a:rPr lang="en-IN" dirty="0"/>
              <a:t>Customer (B2C), Customer to Customer (C2C), Customer to Business (C2B).</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BCD177-EBB2-320A-8EAB-EBAF39C4DECE}"/>
              </a:ext>
            </a:extLst>
          </p:cNvPr>
          <p:cNvSpPr>
            <a:spLocks noGrp="1"/>
          </p:cNvSpPr>
          <p:nvPr>
            <p:ph type="title"/>
          </p:nvPr>
        </p:nvSpPr>
        <p:spPr/>
        <p:txBody>
          <a:bodyPr>
            <a:normAutofit fontScale="90000"/>
          </a:bodyPr>
          <a:lstStyle/>
          <a:p>
            <a:r>
              <a:rPr lang="en-IN" b="1" dirty="0"/>
              <a:t>Main components of E-Commerce</a:t>
            </a:r>
            <a:br>
              <a:rPr lang="en-IN" dirty="0"/>
            </a:br>
            <a:endParaRPr lang="en-US" dirty="0"/>
          </a:p>
        </p:txBody>
      </p:sp>
      <p:sp>
        <p:nvSpPr>
          <p:cNvPr id="4" name="Content Placeholder 3">
            <a:extLst>
              <a:ext uri="{FF2B5EF4-FFF2-40B4-BE49-F238E27FC236}">
                <a16:creationId xmlns:a16="http://schemas.microsoft.com/office/drawing/2014/main" id="{8ECAD47E-74C1-7068-D68B-EEDB2B292540}"/>
              </a:ext>
            </a:extLst>
          </p:cNvPr>
          <p:cNvSpPr>
            <a:spLocks noGrp="1"/>
          </p:cNvSpPr>
          <p:nvPr>
            <p:ph idx="1"/>
          </p:nvPr>
        </p:nvSpPr>
        <p:spPr>
          <a:xfrm>
            <a:off x="457200" y="1112520"/>
            <a:ext cx="12984480" cy="6492240"/>
          </a:xfrm>
        </p:spPr>
        <p:txBody>
          <a:bodyPr>
            <a:normAutofit fontScale="55000" lnSpcReduction="20000"/>
          </a:bodyPr>
          <a:lstStyle/>
          <a:p>
            <a:pPr marL="0" indent="0" algn="just">
              <a:buNone/>
            </a:pPr>
            <a:r>
              <a:rPr lang="en-IN" dirty="0"/>
              <a:t>The components of E-Commerce are as follows:</a:t>
            </a:r>
          </a:p>
          <a:p>
            <a:pPr marL="0" indent="0" algn="just">
              <a:buNone/>
            </a:pPr>
            <a:r>
              <a:rPr lang="en-IN" b="1" dirty="0"/>
              <a:t> 1.  User: </a:t>
            </a:r>
            <a:r>
              <a:rPr lang="en-IN" dirty="0"/>
              <a:t>This may be individual / organization or anybody using the e-commerce platforms.</a:t>
            </a:r>
          </a:p>
          <a:p>
            <a:pPr marL="0" indent="0" algn="just">
              <a:buNone/>
            </a:pPr>
            <a:endParaRPr lang="en-IN" dirty="0"/>
          </a:p>
          <a:p>
            <a:pPr marL="0" indent="0" algn="just">
              <a:buNone/>
            </a:pPr>
            <a:r>
              <a:rPr lang="en-IN" b="1" dirty="0"/>
              <a:t>2.   E-commerce vendors: </a:t>
            </a:r>
            <a:r>
              <a:rPr lang="en-IN" dirty="0"/>
              <a:t>This is the organization/ entity providing the user, goods/ services. E.g.: </a:t>
            </a:r>
            <a:r>
              <a:rPr lang="en-IN" dirty="0">
                <a:hlinkClick r:id="rId2"/>
              </a:rPr>
              <a:t>www.flipkart.com</a:t>
            </a:r>
            <a:r>
              <a:rPr lang="en-IN" dirty="0"/>
              <a:t>. E-commerce Vendors further needs to ensure following for better, effective and efficient transaction.</a:t>
            </a:r>
          </a:p>
          <a:p>
            <a:pPr marL="0" indent="0" algn="just">
              <a:buNone/>
            </a:pPr>
            <a:r>
              <a:rPr lang="en-IN" dirty="0"/>
              <a:t>− Suppliers and Supply Chain Management</a:t>
            </a:r>
          </a:p>
          <a:p>
            <a:pPr marL="0" indent="0" algn="just">
              <a:buNone/>
            </a:pPr>
            <a:r>
              <a:rPr lang="en-IN" dirty="0"/>
              <a:t>− Warehouse operations</a:t>
            </a:r>
          </a:p>
          <a:p>
            <a:pPr marL="0" indent="0" algn="just">
              <a:buNone/>
            </a:pPr>
            <a:r>
              <a:rPr lang="en-IN" dirty="0"/>
              <a:t>− Shipping and returns</a:t>
            </a:r>
          </a:p>
          <a:p>
            <a:pPr marL="0" indent="0" algn="just">
              <a:buNone/>
            </a:pPr>
            <a:r>
              <a:rPr lang="en-IN" dirty="0"/>
              <a:t>− E-Commerce catalogue and product display</a:t>
            </a:r>
          </a:p>
          <a:p>
            <a:pPr marL="0" indent="0" algn="just">
              <a:buNone/>
            </a:pPr>
            <a:r>
              <a:rPr lang="en-IN" dirty="0"/>
              <a:t>− Marketing and loyalty programs</a:t>
            </a:r>
          </a:p>
          <a:p>
            <a:pPr marL="0" indent="0" algn="just">
              <a:buNone/>
            </a:pPr>
            <a:endParaRPr lang="en-IN" b="1" dirty="0"/>
          </a:p>
          <a:p>
            <a:pPr marL="0" indent="0" algn="just">
              <a:buNone/>
            </a:pPr>
            <a:r>
              <a:rPr lang="en-IN" b="1" dirty="0"/>
              <a:t>3. Technology Infrastructure: </a:t>
            </a:r>
            <a:r>
              <a:rPr lang="en-IN" dirty="0"/>
              <a:t>This includes Server computers, apps etc. These are the backbone for the success of the venture. They store the data/program used to run the whole operation of the organization.</a:t>
            </a:r>
          </a:p>
          <a:p>
            <a:pPr marL="0" indent="0" algn="just">
              <a:buNone/>
            </a:pPr>
            <a:endParaRPr lang="en-IN" dirty="0"/>
          </a:p>
          <a:p>
            <a:pPr marL="0" indent="0" algn="just">
              <a:buNone/>
            </a:pPr>
            <a:r>
              <a:rPr lang="en-IN" b="1" dirty="0"/>
              <a:t>4. Internet/ Network: </a:t>
            </a:r>
            <a:r>
              <a:rPr lang="en-IN" dirty="0"/>
              <a:t>This is the key to success of e-commerce transactions. Internet connectivity is important for any e-commerce transaction to go through. The faster net connectivity leads to better e-commerce.</a:t>
            </a:r>
          </a:p>
          <a:p>
            <a:pPr marL="0" indent="0" algn="just">
              <a:buNone/>
            </a:pPr>
            <a:endParaRPr lang="en-IN" dirty="0"/>
          </a:p>
          <a:p>
            <a:pPr marL="0" indent="0" algn="just">
              <a:buNone/>
            </a:pPr>
            <a:r>
              <a:rPr lang="en-IN" b="1" dirty="0"/>
              <a:t>5. Web Portal: </a:t>
            </a:r>
            <a:r>
              <a:rPr lang="en-IN" dirty="0"/>
              <a:t>This shall provide the interface through which an individual/organization shall perform e-commerce transactions. These web portals can be accessed through desktops/laptops/PDA/hand- held computing devices/ mobiles and now through smart TVs.</a:t>
            </a:r>
          </a:p>
          <a:p>
            <a:pPr marL="0" indent="0" algn="just">
              <a:buNone/>
            </a:pPr>
            <a:endParaRPr lang="en-IN" dirty="0"/>
          </a:p>
          <a:p>
            <a:pPr marL="0" indent="0" algn="just">
              <a:buNone/>
            </a:pPr>
            <a:r>
              <a:rPr lang="en-IN" b="1" dirty="0"/>
              <a:t>6. Payment Gateway: </a:t>
            </a:r>
            <a:r>
              <a:rPr lang="en-IN" dirty="0"/>
              <a:t>The payment mode through which customers shall make payments. Payment gateway represents the way e-commerce vendors collect their payments. Examples are Credit / Debit Card Payments, Online bank payments, Vendors own payment wallet, Third Party Payment wallets, like PAYTM and Unified Payments Interface (UPI).</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A4B170-A6EB-1416-77CE-F7040D5C21B1}"/>
              </a:ext>
            </a:extLst>
          </p:cNvPr>
          <p:cNvSpPr>
            <a:spLocks noGrp="1"/>
          </p:cNvSpPr>
          <p:nvPr>
            <p:ph type="title"/>
          </p:nvPr>
        </p:nvSpPr>
        <p:spPr>
          <a:xfrm>
            <a:off x="457200" y="274638"/>
            <a:ext cx="11658600" cy="1143000"/>
          </a:xfrm>
        </p:spPr>
        <p:txBody>
          <a:bodyPr>
            <a:normAutofit fontScale="90000"/>
          </a:bodyPr>
          <a:lstStyle/>
          <a:p>
            <a:r>
              <a:rPr lang="en-IN" b="1" dirty="0"/>
              <a:t>    Elements of E-Commerce security</a:t>
            </a:r>
            <a:br>
              <a:rPr lang="en-IN" dirty="0"/>
            </a:br>
            <a:endParaRPr lang="en-US" dirty="0"/>
          </a:p>
        </p:txBody>
      </p:sp>
      <p:sp>
        <p:nvSpPr>
          <p:cNvPr id="4" name="Content Placeholder 3">
            <a:extLst>
              <a:ext uri="{FF2B5EF4-FFF2-40B4-BE49-F238E27FC236}">
                <a16:creationId xmlns:a16="http://schemas.microsoft.com/office/drawing/2014/main" id="{782ED75E-5885-5EFD-C808-5F2598A67776}"/>
              </a:ext>
            </a:extLst>
          </p:cNvPr>
          <p:cNvSpPr>
            <a:spLocks noGrp="1"/>
          </p:cNvSpPr>
          <p:nvPr>
            <p:ph idx="1"/>
          </p:nvPr>
        </p:nvSpPr>
        <p:spPr>
          <a:xfrm>
            <a:off x="457200" y="1188720"/>
            <a:ext cx="13533120" cy="6385560"/>
          </a:xfrm>
        </p:spPr>
        <p:txBody>
          <a:bodyPr>
            <a:noAutofit/>
          </a:bodyPr>
          <a:lstStyle/>
          <a:p>
            <a:pPr marL="0" indent="0" algn="just">
              <a:buNone/>
            </a:pPr>
            <a:r>
              <a:rPr lang="en-IN" sz="2800" dirty="0"/>
              <a:t>E-commerce security involves safeguarding online transactions and protecting sensitive information during online purchases. Here are some key elements:</a:t>
            </a:r>
          </a:p>
          <a:p>
            <a:pPr marL="514350" indent="-514350" algn="just">
              <a:buAutoNum type="arabicPeriod"/>
            </a:pPr>
            <a:r>
              <a:rPr lang="en-IN" sz="2800" b="1" dirty="0"/>
              <a:t>Encryption: </a:t>
            </a:r>
            <a:r>
              <a:rPr lang="en-IN" sz="2800" dirty="0"/>
              <a:t>Encrypting data ensures that sensitive information like credit card details, personal information, and transaction data is encoded during transmission</a:t>
            </a:r>
          </a:p>
          <a:p>
            <a:pPr marL="514350" indent="-514350" algn="just">
              <a:buAutoNum type="arabicPeriod"/>
            </a:pPr>
            <a:r>
              <a:rPr lang="en-IN" sz="2800" b="1" dirty="0"/>
              <a:t>Secure Payment Gateways: </a:t>
            </a:r>
            <a:r>
              <a:rPr lang="en-IN" sz="2800" dirty="0"/>
              <a:t>Using trusted and secure payment gateways ensures that financial information is transmitted securely between the customer, merchant, and financial institutions.</a:t>
            </a:r>
          </a:p>
          <a:p>
            <a:pPr marL="0" indent="0" algn="just">
              <a:buNone/>
            </a:pPr>
            <a:r>
              <a:rPr lang="en-IN" sz="2800" b="1" dirty="0"/>
              <a:t>3. Firewalls and Security Software: </a:t>
            </a:r>
            <a:r>
              <a:rPr lang="en-IN" sz="2800" dirty="0"/>
              <a:t>Implementing firewalls and up-to-date security software  </a:t>
            </a:r>
          </a:p>
          <a:p>
            <a:pPr marL="0" indent="0" algn="just">
              <a:buNone/>
            </a:pPr>
            <a:r>
              <a:rPr lang="en-IN" sz="2800" dirty="0"/>
              <a:t>     helps prevent unauthorized access to the e-commerce website's network. </a:t>
            </a:r>
          </a:p>
          <a:p>
            <a:pPr marL="0" indent="0" algn="just">
              <a:buNone/>
            </a:pPr>
            <a:r>
              <a:rPr lang="en-IN" sz="2800" b="1" dirty="0"/>
              <a:t>4. Authentication and Authorization: </a:t>
            </a:r>
            <a:r>
              <a:rPr lang="en-IN" sz="2800" dirty="0"/>
              <a:t>Employing strong user authentication methods, such   </a:t>
            </a:r>
          </a:p>
          <a:p>
            <a:pPr marL="0" indent="0" algn="just">
              <a:buNone/>
            </a:pPr>
            <a:r>
              <a:rPr lang="en-IN" sz="2800" dirty="0"/>
              <a:t>    as two-factor authentication (2FA), helps verify the identity of users, reducing the risk of   </a:t>
            </a:r>
          </a:p>
          <a:p>
            <a:pPr marL="0" indent="0" algn="just">
              <a:buNone/>
            </a:pPr>
            <a:r>
              <a:rPr lang="en-IN" sz="2800" dirty="0"/>
              <a:t>     unauthorized access.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0C4417-68B0-8FC2-68D8-CC76C078D554}"/>
              </a:ext>
            </a:extLst>
          </p:cNvPr>
          <p:cNvSpPr>
            <a:spLocks noGrp="1"/>
          </p:cNvSpPr>
          <p:nvPr>
            <p:ph idx="1"/>
          </p:nvPr>
        </p:nvSpPr>
        <p:spPr>
          <a:xfrm>
            <a:off x="457200" y="457200"/>
            <a:ext cx="13045440" cy="7269480"/>
          </a:xfrm>
        </p:spPr>
        <p:txBody>
          <a:bodyPr>
            <a:normAutofit fontScale="92500" lnSpcReduction="20000"/>
          </a:bodyPr>
          <a:lstStyle/>
          <a:p>
            <a:pPr marL="0" indent="0" algn="just">
              <a:buNone/>
            </a:pPr>
            <a:r>
              <a:rPr lang="en-IN" b="1" dirty="0"/>
              <a:t>6. Regular Updates and Patch Management: </a:t>
            </a:r>
            <a:r>
              <a:rPr lang="en-IN" dirty="0"/>
              <a:t>Ensuring that the e-commerce platform and all</a:t>
            </a:r>
          </a:p>
          <a:p>
            <a:pPr marL="0" indent="0" algn="just">
              <a:buNone/>
            </a:pPr>
            <a:r>
              <a:rPr lang="en-IN" dirty="0"/>
              <a:t>associated software are regularly updated with the latest security patches helps mitigate</a:t>
            </a:r>
          </a:p>
          <a:p>
            <a:pPr marL="0" indent="0" algn="just">
              <a:buNone/>
            </a:pPr>
            <a:r>
              <a:rPr lang="en-IN" dirty="0"/>
              <a:t>vulnerabilities that could be exploited by attackers.</a:t>
            </a:r>
          </a:p>
          <a:p>
            <a:pPr marL="0" indent="0" algn="just">
              <a:buNone/>
            </a:pPr>
            <a:r>
              <a:rPr lang="en-IN" b="1" dirty="0"/>
              <a:t>7. Data Privacy and Compliance: </a:t>
            </a:r>
            <a:r>
              <a:rPr lang="en-IN" dirty="0"/>
              <a:t>Adhering to data privacy regulations (such as GDPR, CCPA)</a:t>
            </a:r>
          </a:p>
          <a:p>
            <a:pPr marL="0" indent="0" algn="just">
              <a:buNone/>
            </a:pPr>
            <a:r>
              <a:rPr lang="en-IN" dirty="0"/>
              <a:t>and implementing privacy policies that protect customer data is crucial. This includes proper</a:t>
            </a:r>
          </a:p>
          <a:p>
            <a:pPr marL="0" indent="0" algn="just">
              <a:buNone/>
            </a:pPr>
            <a:r>
              <a:rPr lang="en-IN" dirty="0"/>
              <a:t>handling and storage of personal information.</a:t>
            </a:r>
          </a:p>
          <a:p>
            <a:pPr marL="0" indent="0" algn="just">
              <a:buNone/>
            </a:pPr>
            <a:r>
              <a:rPr lang="en-IN" b="1" dirty="0"/>
              <a:t>8. Risk Assessment and Monitoring: </a:t>
            </a:r>
            <a:r>
              <a:rPr lang="en-IN" dirty="0"/>
              <a:t>Conducting regular security audits and risk assessments</a:t>
            </a:r>
          </a:p>
          <a:p>
            <a:pPr marL="0" indent="0" algn="just">
              <a:buNone/>
            </a:pPr>
            <a:r>
              <a:rPr lang="en-IN" dirty="0"/>
              <a:t>helps identify potential vulnerabilities and threats. Continuous monitoring of systems for</a:t>
            </a:r>
          </a:p>
          <a:p>
            <a:pPr marL="0" indent="0" algn="just">
              <a:buNone/>
            </a:pPr>
            <a:r>
              <a:rPr lang="en-IN" dirty="0"/>
              <a:t>suspicious activities is vital to detect and respond to any security breaches promptly.</a:t>
            </a:r>
          </a:p>
          <a:p>
            <a:endParaRPr lang="en-US" dirty="0"/>
          </a:p>
        </p:txBody>
      </p:sp>
    </p:spTree>
    <p:extLst>
      <p:ext uri="{BB962C8B-B14F-4D97-AF65-F5344CB8AC3E}">
        <p14:creationId xmlns:p14="http://schemas.microsoft.com/office/powerpoint/2010/main" val="1924086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16D366-0CB4-87B5-2E0D-90612691D1BD}"/>
              </a:ext>
            </a:extLst>
          </p:cNvPr>
          <p:cNvSpPr>
            <a:spLocks noGrp="1"/>
          </p:cNvSpPr>
          <p:nvPr>
            <p:ph idx="1"/>
          </p:nvPr>
        </p:nvSpPr>
        <p:spPr>
          <a:xfrm>
            <a:off x="350520" y="899160"/>
            <a:ext cx="13456920" cy="6690360"/>
          </a:xfrm>
        </p:spPr>
        <p:txBody>
          <a:bodyPr>
            <a:normAutofit/>
          </a:bodyPr>
          <a:lstStyle/>
          <a:p>
            <a:pPr marL="0" indent="0" algn="just">
              <a:buNone/>
            </a:pPr>
            <a:r>
              <a:rPr lang="en-IN" b="1" dirty="0"/>
              <a:t>9. Customer Education: </a:t>
            </a:r>
            <a:r>
              <a:rPr lang="en-IN" dirty="0"/>
              <a:t>Educating customers about safe online practices, such as creating strong passwords, avoiding public Wi-Fi for sensitive transactions, and being cautious of phishing attempts, can significantly enhance overall e-commerce security.</a:t>
            </a:r>
          </a:p>
          <a:p>
            <a:pPr marL="0" indent="0" algn="just">
              <a:buNone/>
            </a:pPr>
            <a:endParaRPr lang="en-IN" dirty="0"/>
          </a:p>
          <a:p>
            <a:pPr marL="0" indent="0" algn="just">
              <a:buNone/>
            </a:pPr>
            <a:r>
              <a:rPr lang="en-IN" b="1" dirty="0"/>
              <a:t>10. Physical Security Measures: </a:t>
            </a:r>
            <a:r>
              <a:rPr lang="en-IN" dirty="0"/>
              <a:t>Ensuring physical security of servers and data </a:t>
            </a:r>
            <a:r>
              <a:rPr lang="en-IN" dirty="0" err="1"/>
              <a:t>centers</a:t>
            </a:r>
            <a:r>
              <a:rPr lang="en-IN" dirty="0"/>
              <a:t> where customer information is stored is essential to prevent unauthorized access to hardware and infrastructure.</a:t>
            </a:r>
          </a:p>
          <a:p>
            <a:pPr marL="0" indent="0" algn="just">
              <a:buNone/>
            </a:pPr>
            <a:endParaRPr lang="en-IN" dirty="0"/>
          </a:p>
          <a:p>
            <a:pPr marL="0" indent="0" algn="just">
              <a:buNone/>
            </a:pPr>
            <a:r>
              <a:rPr lang="en-IN" b="1" dirty="0"/>
              <a:t>11. Backup and Disaster Recovery: </a:t>
            </a:r>
            <a:r>
              <a:rPr lang="en-IN" dirty="0"/>
              <a:t>Implementing robust backup and disaster recovery plans ensures that in case of a security breach or system failure, data can be recovered without significant loss.</a:t>
            </a:r>
          </a:p>
          <a:p>
            <a:endParaRPr lang="en-US" dirty="0"/>
          </a:p>
        </p:txBody>
      </p:sp>
    </p:spTree>
    <p:extLst>
      <p:ext uri="{BB962C8B-B14F-4D97-AF65-F5344CB8AC3E}">
        <p14:creationId xmlns:p14="http://schemas.microsoft.com/office/powerpoint/2010/main" val="430345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411480"/>
            <a:ext cx="14287500" cy="8058150"/>
          </a:xfrm>
          <a:prstGeom prst="rect">
            <a:avLst/>
          </a:prstGeom>
        </p:spPr>
      </p:pic>
      <p:sp>
        <p:nvSpPr>
          <p:cNvPr id="4" name="Content Placeholder 3">
            <a:extLst>
              <a:ext uri="{FF2B5EF4-FFF2-40B4-BE49-F238E27FC236}">
                <a16:creationId xmlns:a16="http://schemas.microsoft.com/office/drawing/2014/main" id="{7036EF01-E24D-FEDB-8F15-AF10E3BF5D74}"/>
              </a:ext>
            </a:extLst>
          </p:cNvPr>
          <p:cNvSpPr>
            <a:spLocks noGrp="1"/>
          </p:cNvSpPr>
          <p:nvPr>
            <p:ph idx="1"/>
          </p:nvPr>
        </p:nvSpPr>
        <p:spPr>
          <a:xfrm>
            <a:off x="243840" y="289560"/>
            <a:ext cx="13685520" cy="8058150"/>
          </a:xfrm>
        </p:spPr>
        <p:txBody>
          <a:bodyPr>
            <a:normAutofit fontScale="25000" lnSpcReduction="20000"/>
          </a:bodyPr>
          <a:lstStyle/>
          <a:p>
            <a:pPr marL="0" indent="0" algn="just">
              <a:buNone/>
            </a:pPr>
            <a:r>
              <a:rPr lang="en-IN" sz="8600" b="1" dirty="0"/>
              <a:t>Top 8 E-Commerce Security Threats and Issues You Must Know</a:t>
            </a:r>
            <a:endParaRPr lang="en-IN" sz="8600" dirty="0"/>
          </a:p>
          <a:p>
            <a:pPr marL="0" indent="0" algn="just">
              <a:buNone/>
            </a:pPr>
            <a:r>
              <a:rPr lang="en-IN" sz="8600" b="1" dirty="0"/>
              <a:t>1. Financial Fraud</a:t>
            </a:r>
            <a:endParaRPr lang="en-IN" sz="8600" dirty="0"/>
          </a:p>
          <a:p>
            <a:pPr algn="just"/>
            <a:r>
              <a:rPr lang="en-IN" sz="8600" dirty="0"/>
              <a:t>Cybercriminals often target payment transactions, attempting to siphon funds from unsuspecting users. These threats range from credit card fraud to identity theft. </a:t>
            </a:r>
          </a:p>
          <a:p>
            <a:pPr marL="0" indent="0" algn="just">
              <a:buNone/>
            </a:pPr>
            <a:r>
              <a:rPr lang="en-IN" sz="8600" b="1" dirty="0"/>
              <a:t>2. Credit Card Fraud</a:t>
            </a:r>
            <a:endParaRPr lang="en-IN" sz="8600" dirty="0"/>
          </a:p>
          <a:p>
            <a:pPr algn="just"/>
            <a:r>
              <a:rPr lang="en-IN" sz="8600" dirty="0"/>
              <a:t>This fraud is carried out through a stolen credit card or through identity theft which enables the fraudster to create a credit card with that identity. </a:t>
            </a:r>
            <a:r>
              <a:rPr lang="en-IN" sz="8600" u="sng" dirty="0">
                <a:hlinkClick r:id="rId4"/>
              </a:rPr>
              <a:t>Carding</a:t>
            </a:r>
            <a:r>
              <a:rPr lang="en-IN" sz="8600" dirty="0"/>
              <a:t>, a practice where small transactions are made to test the validity of stolen credit card details, is another common threat. Transactions with stolen credit cards can be limited by installing </a:t>
            </a:r>
            <a:r>
              <a:rPr lang="en-IN" sz="8600" u="sng" dirty="0">
                <a:hlinkClick r:id="rId5"/>
              </a:rPr>
              <a:t>address verification systems</a:t>
            </a:r>
            <a:r>
              <a:rPr lang="en-IN" sz="8600" dirty="0"/>
              <a:t>. These systems check and verify between the billing addresses provided by the customer to you and the bank.</a:t>
            </a:r>
          </a:p>
          <a:p>
            <a:pPr marL="0" indent="0" algn="just">
              <a:buNone/>
            </a:pPr>
            <a:r>
              <a:rPr lang="en-IN" sz="8600" b="1" dirty="0"/>
              <a:t>3. Refund Fraud</a:t>
            </a:r>
            <a:endParaRPr lang="en-IN" sz="8600" dirty="0"/>
          </a:p>
          <a:p>
            <a:pPr algn="just"/>
            <a:r>
              <a:rPr lang="en-IN" sz="8600" dirty="0"/>
              <a:t>Another trick up a fraudster’s sleeve is to file requests for refunds or returns for non-existent orders or after using the products. They can also perform unauthorized transactions and clear the trail, causing a loss of revenue for your e-commerce business.</a:t>
            </a:r>
          </a:p>
          <a:p>
            <a:pPr marL="0" indent="0" algn="just">
              <a:buNone/>
            </a:pPr>
            <a:r>
              <a:rPr lang="en-IN" sz="8600" b="1" dirty="0"/>
              <a:t>4. Phishing</a:t>
            </a:r>
            <a:endParaRPr lang="en-IN" sz="8600" dirty="0"/>
          </a:p>
          <a:p>
            <a:pPr algn="just"/>
            <a:r>
              <a:rPr lang="en-IN" sz="8600" u="sng" dirty="0">
                <a:hlinkClick r:id="rId5"/>
              </a:rPr>
              <a:t>Phishing attacks</a:t>
            </a:r>
            <a:r>
              <a:rPr lang="en-IN" sz="8600" dirty="0"/>
              <a:t> involve deceptive emails or websites that appear legitimate but are designed to trick users into revealing their personal and financial information. Customers can receive messages or emails from hackers pretending to be your e-commerce business. They present fake copies of your website pages or another reputable website to trick the users into believing them, and </a:t>
            </a:r>
            <a:r>
              <a:rPr lang="en-IN" sz="8600" u="sng" dirty="0">
                <a:hlinkClick r:id="rId6"/>
              </a:rPr>
              <a:t>phishing simulation tools</a:t>
            </a:r>
            <a:r>
              <a:rPr lang="en-IN" sz="8600" dirty="0"/>
              <a:t> can replicate these tactics to educate your staff and test their vigilance. This can pose a grave problem in the trust customers have with your business.</a:t>
            </a:r>
          </a:p>
          <a:p>
            <a:pPr marL="0" indent="0" algn="just">
              <a:buNone/>
            </a:pPr>
            <a:r>
              <a:rPr lang="en-IN" sz="8600" b="1" dirty="0"/>
              <a:t>5. DDoS Attacks</a:t>
            </a:r>
            <a:endParaRPr lang="en-IN" sz="8600" dirty="0"/>
          </a:p>
          <a:p>
            <a:pPr algn="just"/>
            <a:r>
              <a:rPr lang="en-IN" sz="8600" u="sng" dirty="0">
                <a:hlinkClick r:id="rId6"/>
              </a:rPr>
              <a:t>Distributed Denial of Service (DDoS) attacks</a:t>
            </a:r>
            <a:r>
              <a:rPr lang="en-IN" sz="8600" dirty="0"/>
              <a:t> flood a website with overwhelming traffic rendering it inaccessible to legitimate users. E-commerce businesses are attractive targets. Such a threat can cause your </a:t>
            </a:r>
            <a:r>
              <a:rPr lang="en-IN" sz="8600" u="sng" dirty="0">
                <a:hlinkClick r:id="rId7"/>
              </a:rPr>
              <a:t>e-commerce platforms</a:t>
            </a:r>
            <a:r>
              <a:rPr lang="en-IN" sz="8600" dirty="0"/>
              <a:t> to crash resulting in hefty sales and revenue loss. Such attacks are one of the most critical security issues in e-commerce that can severely disrupt operations.</a:t>
            </a:r>
          </a:p>
          <a:p>
            <a:endParaRPr lang="en-US" dirty="0"/>
          </a:p>
        </p:txBody>
      </p:sp>
    </p:spTree>
    <p:extLst>
      <p:ext uri="{BB962C8B-B14F-4D97-AF65-F5344CB8AC3E}">
        <p14:creationId xmlns:p14="http://schemas.microsoft.com/office/powerpoint/2010/main" val="2291646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1F06812-97DD-6F6B-8A86-0FDA4BF762C5}"/>
              </a:ext>
            </a:extLst>
          </p:cNvPr>
          <p:cNvSpPr>
            <a:spLocks noGrp="1"/>
          </p:cNvSpPr>
          <p:nvPr>
            <p:ph idx="1"/>
          </p:nvPr>
        </p:nvSpPr>
        <p:spPr>
          <a:xfrm>
            <a:off x="457200" y="518160"/>
            <a:ext cx="13502640" cy="6995160"/>
          </a:xfrm>
        </p:spPr>
        <p:txBody>
          <a:bodyPr>
            <a:normAutofit fontScale="25000" lnSpcReduction="20000"/>
          </a:bodyPr>
          <a:lstStyle/>
          <a:p>
            <a:pPr algn="just"/>
            <a:r>
              <a:rPr lang="en-IN" sz="8000" b="1" dirty="0"/>
              <a:t>6. Spamming</a:t>
            </a:r>
            <a:endParaRPr lang="en-IN" sz="8000" dirty="0"/>
          </a:p>
          <a:p>
            <a:pPr algn="just"/>
            <a:r>
              <a:rPr lang="en-IN" sz="8000" dirty="0"/>
              <a:t>Spam emails, comments, and messages can clutter &amp; disrupt the experience of your e-commerce platform. They can also have malware or phishing links. They can also leave these links in their comments on blog posts and contact forms. Clicking such a link directs your customers to malicious sites. Spamming not only affects your website’s security but also reduces its speed and performance drastically.</a:t>
            </a:r>
          </a:p>
          <a:p>
            <a:pPr marL="0" indent="0" algn="just">
              <a:buNone/>
            </a:pPr>
            <a:endParaRPr lang="en-IN" sz="8000" dirty="0"/>
          </a:p>
          <a:p>
            <a:pPr algn="just"/>
            <a:r>
              <a:rPr lang="en-IN" sz="8000" b="1" dirty="0"/>
              <a:t>7. Bots</a:t>
            </a:r>
            <a:endParaRPr lang="en-IN" sz="8000" dirty="0"/>
          </a:p>
          <a:p>
            <a:pPr algn="just"/>
            <a:r>
              <a:rPr lang="en-IN" sz="8000" dirty="0"/>
              <a:t>Bots can be programmed to perform tasks like </a:t>
            </a:r>
            <a:r>
              <a:rPr lang="en-IN" sz="8000" u="sng" dirty="0">
                <a:hlinkClick r:id="rId2"/>
              </a:rPr>
              <a:t>scraping data</a:t>
            </a:r>
            <a:r>
              <a:rPr lang="en-IN" sz="8000" dirty="0"/>
              <a:t> (e.g., to </a:t>
            </a:r>
            <a:r>
              <a:rPr lang="en-IN" sz="8000" u="sng" dirty="0">
                <a:hlinkClick r:id="rId3"/>
              </a:rPr>
              <a:t>collect Amazon product details</a:t>
            </a:r>
            <a:r>
              <a:rPr lang="en-IN" sz="8000" dirty="0"/>
              <a:t>), automating purchases, or launching attacks. Malicious bots can wreak havoc on e-commerce sites by scraping them for inventory and price information. Hackers can then use the data to lower or modify the prices on their websites in an attempt to lower your sales and revenue.</a:t>
            </a:r>
          </a:p>
          <a:p>
            <a:pPr marL="0" indent="0" algn="just">
              <a:buNone/>
            </a:pPr>
            <a:endParaRPr lang="en-IN" sz="8000" dirty="0"/>
          </a:p>
          <a:p>
            <a:pPr algn="just"/>
            <a:r>
              <a:rPr lang="en-IN" sz="8000" b="1" dirty="0"/>
              <a:t>8. Brute Force Attacks</a:t>
            </a:r>
            <a:endParaRPr lang="en-IN" sz="8000" dirty="0"/>
          </a:p>
          <a:p>
            <a:pPr algn="just"/>
            <a:r>
              <a:rPr lang="en-IN" sz="8000" dirty="0"/>
              <a:t>Brute force attacks involve repeated, automated login attempts to gain unauthorized access to user accounts. Attackers can use brute force to attack your administrator panel, crack your password, and compromise your account to steal information. Automated tools help in trying out thousands of combinations in an attempt to obtain your site’s passwords. It’s wise to use strong, complex passwords and change them every few months.</a:t>
            </a:r>
          </a:p>
          <a:p>
            <a:pPr marL="0" indent="0" algn="just">
              <a:buNone/>
            </a:pPr>
            <a:endParaRPr lang="en-IN" sz="8000" dirty="0"/>
          </a:p>
          <a:p>
            <a:pPr algn="just"/>
            <a:r>
              <a:rPr lang="en-IN" sz="8000" b="1" dirty="0"/>
              <a:t>9. Vulnerability Exploitation</a:t>
            </a:r>
            <a:endParaRPr lang="en-IN" sz="8000" dirty="0"/>
          </a:p>
          <a:p>
            <a:pPr algn="just"/>
            <a:r>
              <a:rPr lang="en-IN" sz="8000" dirty="0"/>
              <a:t>Vulnerabilities that exist in your e-commerce website can be exploited by hackers using SQL injections or cross-site scripting (XSS). SQL injections affect your database by corrupting it using codes that are put into query boxes on your site. XSS targets the users with the aid of malicious code snippets that are planted in your site allowing hackers to access customers’ cookies.</a:t>
            </a:r>
          </a:p>
          <a:p>
            <a:pPr marL="0" indent="0" algn="just">
              <a:buNone/>
            </a:pPr>
            <a:endParaRPr lang="en-IN" sz="8000" dirty="0"/>
          </a:p>
          <a:p>
            <a:pPr algn="just"/>
            <a:r>
              <a:rPr lang="en-IN" sz="8000" b="1" dirty="0"/>
              <a:t>10. Malware</a:t>
            </a:r>
            <a:endParaRPr lang="en-IN" sz="8000" dirty="0"/>
          </a:p>
          <a:p>
            <a:pPr algn="just"/>
            <a:r>
              <a:rPr lang="en-IN" sz="8000" dirty="0"/>
              <a:t>Malicious software like spyware, viruses, trojans, and ransomware is installed on your IT and computer systems without your knowledge. Customers, admin, and other user devices may have trojan horses that can easily swipe away any sensitive information from it and in the process affect your e-commerce site as well.</a:t>
            </a:r>
          </a:p>
          <a:p>
            <a:endParaRPr lang="en-US" dirty="0"/>
          </a:p>
        </p:txBody>
      </p:sp>
    </p:spTree>
    <p:extLst>
      <p:ext uri="{BB962C8B-B14F-4D97-AF65-F5344CB8AC3E}">
        <p14:creationId xmlns:p14="http://schemas.microsoft.com/office/powerpoint/2010/main" val="3831782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4287500" cy="8058150"/>
          </a:xfrm>
          <a:prstGeom prst="rect">
            <a:avLst/>
          </a:prstGeom>
        </p:spPr>
      </p:pic>
      <p:sp>
        <p:nvSpPr>
          <p:cNvPr id="3" name="Title 2">
            <a:extLst>
              <a:ext uri="{FF2B5EF4-FFF2-40B4-BE49-F238E27FC236}">
                <a16:creationId xmlns:a16="http://schemas.microsoft.com/office/drawing/2014/main" id="{B8C8FD2E-65A7-62A5-9280-3E6E1710EA4D}"/>
              </a:ext>
            </a:extLst>
          </p:cNvPr>
          <p:cNvSpPr>
            <a:spLocks noGrp="1"/>
          </p:cNvSpPr>
          <p:nvPr>
            <p:ph type="title"/>
          </p:nvPr>
        </p:nvSpPr>
        <p:spPr>
          <a:xfrm>
            <a:off x="457200" y="274638"/>
            <a:ext cx="13030200" cy="1143000"/>
          </a:xfrm>
        </p:spPr>
        <p:txBody>
          <a:bodyPr>
            <a:normAutofit fontScale="90000"/>
          </a:bodyPr>
          <a:lstStyle/>
          <a:p>
            <a:br>
              <a:rPr lang="en-IN" b="1" dirty="0"/>
            </a:br>
            <a:r>
              <a:rPr lang="en-IN" b="1" dirty="0"/>
              <a:t>Top Solutions For E-Commerce Security Threats</a:t>
            </a:r>
            <a:br>
              <a:rPr lang="en-IN" dirty="0"/>
            </a:br>
            <a:endParaRPr lang="en-US" dirty="0"/>
          </a:p>
        </p:txBody>
      </p:sp>
      <p:sp>
        <p:nvSpPr>
          <p:cNvPr id="4" name="Content Placeholder 3">
            <a:extLst>
              <a:ext uri="{FF2B5EF4-FFF2-40B4-BE49-F238E27FC236}">
                <a16:creationId xmlns:a16="http://schemas.microsoft.com/office/drawing/2014/main" id="{C8898A82-E163-958A-203C-C3B5C8C72BAE}"/>
              </a:ext>
            </a:extLst>
          </p:cNvPr>
          <p:cNvSpPr>
            <a:spLocks noGrp="1"/>
          </p:cNvSpPr>
          <p:nvPr>
            <p:ph idx="1"/>
          </p:nvPr>
        </p:nvSpPr>
        <p:spPr>
          <a:xfrm>
            <a:off x="457200" y="1600200"/>
            <a:ext cx="13030200" cy="5943600"/>
          </a:xfrm>
        </p:spPr>
        <p:txBody>
          <a:bodyPr>
            <a:normAutofit/>
          </a:bodyPr>
          <a:lstStyle/>
          <a:p>
            <a:endParaRPr lang="en-IN" b="1" dirty="0"/>
          </a:p>
          <a:p>
            <a:r>
              <a:rPr lang="en-IN" b="1" dirty="0"/>
              <a:t>Solution 1: Implement A Secure Firewall</a:t>
            </a:r>
          </a:p>
          <a:p>
            <a:r>
              <a:rPr lang="en-IN" b="1" dirty="0"/>
              <a:t>Solution 2: Secure Payment Gateways</a:t>
            </a:r>
          </a:p>
          <a:p>
            <a:r>
              <a:rPr lang="en-IN" b="1" dirty="0"/>
              <a:t>Solution 3: Switch to HTTPS Protocol</a:t>
            </a:r>
          </a:p>
          <a:p>
            <a:r>
              <a:rPr lang="en-IN" b="1" dirty="0"/>
              <a:t>Solution 4: Carry out Vulnerability Scan</a:t>
            </a:r>
          </a:p>
          <a:p>
            <a:r>
              <a:rPr lang="en-IN" b="1" dirty="0"/>
              <a:t>Solution 5: Use Anti-malware and Anti-Virus Software</a:t>
            </a:r>
          </a:p>
          <a:p>
            <a:r>
              <a:rPr lang="en-IN" b="1" dirty="0"/>
              <a:t>Solution 6: Have a Multi-layered Security</a:t>
            </a:r>
          </a:p>
          <a:p>
            <a:r>
              <a:rPr lang="en-IN" b="1" dirty="0"/>
              <a:t>Solution 7: Have Backups for Data</a:t>
            </a:r>
          </a:p>
          <a:p>
            <a:r>
              <a:rPr lang="en-IN" b="1" dirty="0"/>
              <a:t>Solution 8: Stay Current on E-commerce Threats</a:t>
            </a:r>
          </a:p>
          <a:p>
            <a:r>
              <a:rPr lang="en-IN" b="1" dirty="0"/>
              <a:t>Solution 9 Use Secure Sockets Layer (SSL) Encryption</a:t>
            </a:r>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3378621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249704-B40B-93C5-7668-ABEBEC78C3C3}"/>
              </a:ext>
            </a:extLst>
          </p:cNvPr>
          <p:cNvSpPr>
            <a:spLocks noGrp="1"/>
          </p:cNvSpPr>
          <p:nvPr>
            <p:ph type="title"/>
          </p:nvPr>
        </p:nvSpPr>
        <p:spPr>
          <a:xfrm>
            <a:off x="2804160" y="289878"/>
            <a:ext cx="8229600" cy="1143000"/>
          </a:xfrm>
        </p:spPr>
        <p:txBody>
          <a:bodyPr>
            <a:normAutofit fontScale="90000"/>
          </a:bodyPr>
          <a:lstStyle/>
          <a:p>
            <a:br>
              <a:rPr lang="en-IN" b="1" dirty="0"/>
            </a:br>
            <a:r>
              <a:rPr lang="en-IN" b="1" dirty="0"/>
              <a:t>Introduction to Digital Payments</a:t>
            </a:r>
            <a:br>
              <a:rPr lang="en-IN" dirty="0"/>
            </a:br>
            <a:endParaRPr lang="en-US" dirty="0"/>
          </a:p>
        </p:txBody>
      </p:sp>
      <p:sp>
        <p:nvSpPr>
          <p:cNvPr id="4" name="Content Placeholder 3">
            <a:extLst>
              <a:ext uri="{FF2B5EF4-FFF2-40B4-BE49-F238E27FC236}">
                <a16:creationId xmlns:a16="http://schemas.microsoft.com/office/drawing/2014/main" id="{EC49329F-E68F-28DB-73B0-2052D2DC8F70}"/>
              </a:ext>
            </a:extLst>
          </p:cNvPr>
          <p:cNvSpPr>
            <a:spLocks noGrp="1"/>
          </p:cNvSpPr>
          <p:nvPr>
            <p:ph idx="1"/>
          </p:nvPr>
        </p:nvSpPr>
        <p:spPr>
          <a:xfrm>
            <a:off x="457200" y="1600200"/>
            <a:ext cx="13167360" cy="6050280"/>
          </a:xfrm>
        </p:spPr>
        <p:txBody>
          <a:bodyPr>
            <a:normAutofit fontScale="77500" lnSpcReduction="20000"/>
          </a:bodyPr>
          <a:lstStyle/>
          <a:p>
            <a:pPr marL="0" indent="0" algn="just">
              <a:buNone/>
            </a:pPr>
            <a:r>
              <a:rPr lang="en-IN" dirty="0"/>
              <a:t>Digital payments are payments done through digital or online modes, with no exchange of hard</a:t>
            </a:r>
          </a:p>
          <a:p>
            <a:pPr marL="0" indent="0" algn="just">
              <a:buNone/>
            </a:pPr>
            <a:r>
              <a:rPr lang="en-IN" dirty="0"/>
              <a:t>cash being involved. Such a payment, sometimes also called an electronic payment (e-payment),</a:t>
            </a:r>
          </a:p>
          <a:p>
            <a:pPr marL="0" indent="0" algn="just">
              <a:buNone/>
            </a:pPr>
            <a:r>
              <a:rPr lang="en-IN" dirty="0"/>
              <a:t>is the transfer of value from one payment account to another where both the payer and the</a:t>
            </a:r>
          </a:p>
          <a:p>
            <a:pPr marL="0" indent="0" algn="just">
              <a:buNone/>
            </a:pPr>
            <a:r>
              <a:rPr lang="en-IN" dirty="0"/>
              <a:t>payee use a digital device such as a mobile phone, computer, or a credit, debit, or prepaid card.</a:t>
            </a:r>
          </a:p>
          <a:p>
            <a:pPr marL="0" indent="0" algn="just">
              <a:buNone/>
            </a:pPr>
            <a:endParaRPr lang="en-IN" dirty="0"/>
          </a:p>
          <a:p>
            <a:pPr marL="0" indent="0" algn="just">
              <a:buNone/>
            </a:pPr>
            <a:endParaRPr lang="en-IN" dirty="0"/>
          </a:p>
          <a:p>
            <a:pPr marL="0" indent="0" algn="just">
              <a:buNone/>
            </a:pPr>
            <a:endParaRPr lang="en-IN" dirty="0"/>
          </a:p>
          <a:p>
            <a:pPr marL="0" indent="0" algn="just">
              <a:buNone/>
            </a:pPr>
            <a:r>
              <a:rPr lang="en-IN" dirty="0"/>
              <a:t>▪ The payer and payee could be either a business or an individual. This means that for digital</a:t>
            </a:r>
          </a:p>
          <a:p>
            <a:pPr marL="0" indent="0" algn="just">
              <a:buNone/>
            </a:pPr>
            <a:r>
              <a:rPr lang="en-IN" dirty="0"/>
              <a:t>payments to take place, the payer and payee both must have a bank account, an online banking</a:t>
            </a:r>
          </a:p>
          <a:p>
            <a:pPr marL="0" indent="0" algn="just">
              <a:buNone/>
            </a:pPr>
            <a:r>
              <a:rPr lang="en-IN" dirty="0"/>
              <a:t>method, a device from which they can make the payment, and a medium of transmission,</a:t>
            </a:r>
          </a:p>
          <a:p>
            <a:pPr marL="0" indent="0" algn="just">
              <a:buNone/>
            </a:pPr>
            <a:r>
              <a:rPr lang="en-IN" dirty="0"/>
              <a:t>meaning that either they should have signed up to a payment provider or an intermediary such</a:t>
            </a:r>
          </a:p>
          <a:p>
            <a:pPr marL="0" indent="0" algn="just">
              <a:buNone/>
            </a:pPr>
            <a:r>
              <a:rPr lang="en-IN" dirty="0"/>
              <a:t>as a bank or a service provider.</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95921C-FB56-D24D-D52F-109C2B432E64}"/>
              </a:ext>
            </a:extLst>
          </p:cNvPr>
          <p:cNvSpPr>
            <a:spLocks noGrp="1"/>
          </p:cNvSpPr>
          <p:nvPr>
            <p:ph type="title"/>
          </p:nvPr>
        </p:nvSpPr>
        <p:spPr>
          <a:xfrm>
            <a:off x="457200" y="274638"/>
            <a:ext cx="12771120" cy="1143000"/>
          </a:xfrm>
        </p:spPr>
        <p:txBody>
          <a:bodyPr>
            <a:normAutofit fontScale="90000"/>
          </a:bodyPr>
          <a:lstStyle/>
          <a:p>
            <a:br>
              <a:rPr lang="en-IN" b="1" dirty="0"/>
            </a:br>
            <a:r>
              <a:rPr lang="en-IN" b="1" dirty="0"/>
              <a:t>Components of Digital Payment and Stake holders</a:t>
            </a:r>
            <a:br>
              <a:rPr lang="en-IN" dirty="0"/>
            </a:br>
            <a:endParaRPr lang="en-US" dirty="0"/>
          </a:p>
        </p:txBody>
      </p:sp>
      <p:sp>
        <p:nvSpPr>
          <p:cNvPr id="4" name="Content Placeholder 3">
            <a:extLst>
              <a:ext uri="{FF2B5EF4-FFF2-40B4-BE49-F238E27FC236}">
                <a16:creationId xmlns:a16="http://schemas.microsoft.com/office/drawing/2014/main" id="{3167F5D4-CFBD-05C2-3273-DE9ABB5598E6}"/>
              </a:ext>
            </a:extLst>
          </p:cNvPr>
          <p:cNvSpPr>
            <a:spLocks noGrp="1"/>
          </p:cNvSpPr>
          <p:nvPr>
            <p:ph idx="1"/>
          </p:nvPr>
        </p:nvSpPr>
        <p:spPr>
          <a:xfrm>
            <a:off x="338667" y="1417638"/>
            <a:ext cx="13438293" cy="6365874"/>
          </a:xfrm>
        </p:spPr>
        <p:txBody>
          <a:bodyPr>
            <a:normAutofit fontScale="85000" lnSpcReduction="20000"/>
          </a:bodyPr>
          <a:lstStyle/>
          <a:p>
            <a:pPr marL="0" indent="0">
              <a:buNone/>
            </a:pPr>
            <a:r>
              <a:rPr lang="en-IN" dirty="0"/>
              <a:t>Digital payments involve several components and stakeholders that collectively facilitate the transfer of money or transactions through electronic means.</a:t>
            </a:r>
          </a:p>
          <a:p>
            <a:pPr marL="0" indent="0">
              <a:buNone/>
            </a:pPr>
            <a:r>
              <a:rPr lang="en-IN" dirty="0"/>
              <a:t>▪ Here are the key components and stakeholders:</a:t>
            </a:r>
          </a:p>
          <a:p>
            <a:pPr marL="0" indent="0">
              <a:buNone/>
            </a:pPr>
            <a:r>
              <a:rPr lang="en-IN" b="1" dirty="0"/>
              <a:t>1. Payment Gateway: </a:t>
            </a:r>
            <a:r>
              <a:rPr lang="en-IN" dirty="0"/>
              <a:t>It's the technology that authorizes and facilitates transactions by connecting merchants, banks, and customers. It encrypts sensitive information and ensures secure transfer.</a:t>
            </a:r>
          </a:p>
          <a:p>
            <a:pPr marL="0" indent="0">
              <a:buNone/>
            </a:pPr>
            <a:r>
              <a:rPr lang="en-IN" b="1" dirty="0"/>
              <a:t>2. Payment Processor: </a:t>
            </a:r>
            <a:r>
              <a:rPr lang="en-IN" dirty="0"/>
              <a:t>Responsible for managing the transaction process by transmitting data between the merchant's bank and the customer's bank. It verifies transaction details and ensures funds are transferred.</a:t>
            </a:r>
          </a:p>
          <a:p>
            <a:pPr marL="0" indent="0">
              <a:buNone/>
            </a:pPr>
            <a:r>
              <a:rPr lang="en-IN" b="1" dirty="0"/>
              <a:t>3. Mobile Wallets: </a:t>
            </a:r>
            <a:r>
              <a:rPr lang="en-IN" dirty="0"/>
              <a:t>Apps or platforms that store payment information, allowing users to make transactions through their smartphones. Examples include Apple Pay, Google Pay, and PayPal.</a:t>
            </a:r>
          </a:p>
          <a:p>
            <a:pPr marL="0" indent="0">
              <a:buNone/>
            </a:pPr>
            <a:r>
              <a:rPr lang="en-IN" b="1" dirty="0"/>
              <a:t>4. Digital Currencies/Cryptocurrencies: </a:t>
            </a:r>
            <a:r>
              <a:rPr lang="en-IN" dirty="0"/>
              <a:t>These decentralized forms of currency (like Bitcoin or Ethereum) facilitate peer-to-peer transactions through blockchain technology.</a:t>
            </a:r>
          </a:p>
          <a:p>
            <a:pPr marL="0" indent="0">
              <a:buNone/>
            </a:pPr>
            <a:r>
              <a:rPr lang="en-IN" b="1" dirty="0"/>
              <a:t>5. Near Field Communication (NFC): </a:t>
            </a:r>
            <a:r>
              <a:rPr lang="en-IN" dirty="0"/>
              <a:t>Technology that enables contactless payments by allowing devices to communicate when in close proximity.</a:t>
            </a:r>
          </a:p>
          <a:p>
            <a:pPr marL="0" indent="0">
              <a:buNone/>
            </a:pPr>
            <a:r>
              <a:rPr lang="en-IN" b="1" dirty="0"/>
              <a:t>6. QR Codes: </a:t>
            </a:r>
            <a:r>
              <a:rPr lang="en-IN" dirty="0"/>
              <a:t>Scannable codes that store payment information, enabling easy transactions by</a:t>
            </a:r>
          </a:p>
          <a:p>
            <a:pPr marL="0" indent="0">
              <a:buNone/>
            </a:pPr>
            <a:r>
              <a:rPr lang="en-IN" dirty="0"/>
              <a:t>simply scanning the code.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4287500" cy="8058150"/>
          </a:xfrm>
          <a:prstGeom prst="rect">
            <a:avLst/>
          </a:prstGeom>
        </p:spPr>
      </p:pic>
      <p:pic>
        <p:nvPicPr>
          <p:cNvPr id="4" name="Picture 3" descr="A diagram of a payment process&#10;&#10;AI-generated content may be incorrect.">
            <a:extLst>
              <a:ext uri="{FF2B5EF4-FFF2-40B4-BE49-F238E27FC236}">
                <a16:creationId xmlns:a16="http://schemas.microsoft.com/office/drawing/2014/main" id="{99D21AFD-2080-F0AD-BB54-006E65830631}"/>
              </a:ext>
            </a:extLst>
          </p:cNvPr>
          <p:cNvPicPr>
            <a:picLocks noChangeAspect="1"/>
          </p:cNvPicPr>
          <p:nvPr/>
        </p:nvPicPr>
        <p:blipFill>
          <a:blip r:embed="rId3"/>
          <a:stretch>
            <a:fillRect/>
          </a:stretch>
        </p:blipFill>
        <p:spPr>
          <a:xfrm>
            <a:off x="694267" y="1195697"/>
            <a:ext cx="13256505" cy="69455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360218"/>
            <a:ext cx="14287500" cy="80581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8111D0-6ACD-8254-B412-86918E847A78}"/>
              </a:ext>
            </a:extLst>
          </p:cNvPr>
          <p:cNvSpPr>
            <a:spLocks noGrp="1"/>
          </p:cNvSpPr>
          <p:nvPr>
            <p:ph type="title"/>
          </p:nvPr>
        </p:nvSpPr>
        <p:spPr>
          <a:xfrm>
            <a:off x="457199" y="274638"/>
            <a:ext cx="12767733" cy="1143000"/>
          </a:xfrm>
        </p:spPr>
        <p:txBody>
          <a:bodyPr>
            <a:normAutofit fontScale="90000"/>
          </a:bodyPr>
          <a:lstStyle/>
          <a:p>
            <a:r>
              <a:rPr lang="en-IN" b="1" dirty="0"/>
              <a:t>          Stakeholders</a:t>
            </a:r>
            <a:br>
              <a:rPr lang="en-IN" dirty="0"/>
            </a:br>
            <a:endParaRPr lang="en-US" dirty="0"/>
          </a:p>
        </p:txBody>
      </p:sp>
      <p:sp>
        <p:nvSpPr>
          <p:cNvPr id="4" name="Content Placeholder 3">
            <a:extLst>
              <a:ext uri="{FF2B5EF4-FFF2-40B4-BE49-F238E27FC236}">
                <a16:creationId xmlns:a16="http://schemas.microsoft.com/office/drawing/2014/main" id="{46882E5C-BCAE-A2A6-E61C-41D26A4FF8AE}"/>
              </a:ext>
            </a:extLst>
          </p:cNvPr>
          <p:cNvSpPr>
            <a:spLocks noGrp="1"/>
          </p:cNvSpPr>
          <p:nvPr>
            <p:ph idx="1"/>
          </p:nvPr>
        </p:nvSpPr>
        <p:spPr>
          <a:xfrm>
            <a:off x="457199" y="1178428"/>
            <a:ext cx="12920133" cy="6475439"/>
          </a:xfrm>
        </p:spPr>
        <p:txBody>
          <a:bodyPr>
            <a:normAutofit fontScale="77500" lnSpcReduction="20000"/>
          </a:bodyPr>
          <a:lstStyle/>
          <a:p>
            <a:pPr marL="0" indent="0">
              <a:buNone/>
            </a:pPr>
            <a:r>
              <a:rPr lang="en-IN" b="1" dirty="0"/>
              <a:t>1. Customers/Users: </a:t>
            </a:r>
            <a:r>
              <a:rPr lang="en-IN" dirty="0"/>
              <a:t>Individuals or entities making payments or transactions using digital payment methods.</a:t>
            </a:r>
          </a:p>
          <a:p>
            <a:pPr marL="0" indent="0">
              <a:buNone/>
            </a:pPr>
            <a:r>
              <a:rPr lang="en-IN" b="1" dirty="0"/>
              <a:t>2. Merchants/Retailers: </a:t>
            </a:r>
            <a:r>
              <a:rPr lang="en-IN" dirty="0"/>
              <a:t>Businesses or individuals selling goods or services and accepting digital payments from customers.</a:t>
            </a:r>
          </a:p>
          <a:p>
            <a:pPr marL="0" indent="0">
              <a:buNone/>
            </a:pPr>
            <a:r>
              <a:rPr lang="en-IN" b="1" dirty="0"/>
              <a:t>3. Financial Institutions: </a:t>
            </a:r>
            <a:r>
              <a:rPr lang="en-IN" dirty="0"/>
              <a:t>Banks, credit unions, and other financial entities that provide the infrastructure and accounts necessary for digital transactions.</a:t>
            </a:r>
          </a:p>
          <a:p>
            <a:pPr marL="0" indent="0">
              <a:buNone/>
            </a:pPr>
            <a:r>
              <a:rPr lang="en-IN" b="1" dirty="0"/>
              <a:t>4. Payment Service Providers (PSPs): </a:t>
            </a:r>
            <a:r>
              <a:rPr lang="en-IN" dirty="0"/>
              <a:t>Companies that offer services facilitating digital payments for merchants, such as amazon </a:t>
            </a:r>
            <a:r>
              <a:rPr lang="en-IN" dirty="0" err="1"/>
              <a:t>Blinkit</a:t>
            </a:r>
            <a:r>
              <a:rPr lang="en-IN" dirty="0"/>
              <a:t>.</a:t>
            </a:r>
          </a:p>
          <a:p>
            <a:pPr marL="0" indent="0">
              <a:buNone/>
            </a:pPr>
            <a:r>
              <a:rPr lang="en-IN" b="1" dirty="0"/>
              <a:t>5. Regulatory Bodies/Government Agencies: </a:t>
            </a:r>
            <a:r>
              <a:rPr lang="en-IN" dirty="0"/>
              <a:t>Entities responsible for creating and enforcing rules, regulations, and standards for digital payments to ensure security and fairness.</a:t>
            </a:r>
          </a:p>
          <a:p>
            <a:pPr marL="0" indent="0">
              <a:buNone/>
            </a:pPr>
            <a:r>
              <a:rPr lang="en-IN" b="1" dirty="0"/>
              <a:t>6. Technology Providers: </a:t>
            </a:r>
            <a:r>
              <a:rPr lang="en-IN" dirty="0"/>
              <a:t>Companies developing and maintaining the technology and software necessary for secure digital payment systems, including hardware manufacturers and software developers.</a:t>
            </a:r>
          </a:p>
          <a:p>
            <a:pPr marL="0" indent="0">
              <a:buNone/>
            </a:pPr>
            <a:r>
              <a:rPr lang="en-IN" b="1" dirty="0"/>
              <a:t>7. Security Firms: </a:t>
            </a:r>
            <a:r>
              <a:rPr lang="en-IN" dirty="0"/>
              <a:t>Organizations specializing in ensuring the security of digital payment</a:t>
            </a:r>
          </a:p>
          <a:p>
            <a:pPr marL="0" indent="0">
              <a:buNone/>
            </a:pPr>
            <a:r>
              <a:rPr lang="en-IN" dirty="0"/>
              <a:t>systems by providing encryption, fraud detection, and cybersecurity services.</a:t>
            </a:r>
          </a:p>
          <a:p>
            <a:pPr marL="0" indent="0">
              <a:buNone/>
            </a:pPr>
            <a:endParaRPr lang="en-IN" dirty="0"/>
          </a:p>
          <a:p>
            <a:pPr marL="0" indent="0">
              <a:buNone/>
            </a:pPr>
            <a:r>
              <a:rPr lang="en-IN" dirty="0"/>
              <a:t>These components and stakeholders collectively form the ecosystem that enables the seamless</a:t>
            </a:r>
          </a:p>
          <a:p>
            <a:pPr marL="0" indent="0">
              <a:buNone/>
            </a:pPr>
            <a:r>
              <a:rPr lang="en-IN" dirty="0"/>
              <a:t>execution of digital payments across various platforms and devices.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4287500" cy="80581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4287500" cy="80581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78FD8F-A9EE-D31B-1340-4ABE8D586BB0}"/>
              </a:ext>
            </a:extLst>
          </p:cNvPr>
          <p:cNvSpPr>
            <a:spLocks noGrp="1"/>
          </p:cNvSpPr>
          <p:nvPr>
            <p:ph type="title"/>
          </p:nvPr>
        </p:nvSpPr>
        <p:spPr>
          <a:xfrm>
            <a:off x="457200" y="274638"/>
            <a:ext cx="13157200" cy="1143000"/>
          </a:xfrm>
        </p:spPr>
        <p:txBody>
          <a:bodyPr/>
          <a:lstStyle/>
          <a:p>
            <a:r>
              <a:rPr lang="en-IN" b="1" dirty="0"/>
              <a:t>Modes of digital payments</a:t>
            </a:r>
            <a:endParaRPr lang="en-US" dirty="0"/>
          </a:p>
        </p:txBody>
      </p:sp>
      <p:sp>
        <p:nvSpPr>
          <p:cNvPr id="4" name="Content Placeholder 3">
            <a:extLst>
              <a:ext uri="{FF2B5EF4-FFF2-40B4-BE49-F238E27FC236}">
                <a16:creationId xmlns:a16="http://schemas.microsoft.com/office/drawing/2014/main" id="{CCFB677F-F619-3F67-29EA-5D3D6C8CE7E9}"/>
              </a:ext>
            </a:extLst>
          </p:cNvPr>
          <p:cNvSpPr>
            <a:spLocks noGrp="1"/>
          </p:cNvSpPr>
          <p:nvPr>
            <p:ph idx="1"/>
          </p:nvPr>
        </p:nvSpPr>
        <p:spPr>
          <a:xfrm>
            <a:off x="457199" y="1417638"/>
            <a:ext cx="13445067" cy="6365874"/>
          </a:xfrm>
        </p:spPr>
        <p:txBody>
          <a:bodyPr>
            <a:normAutofit fontScale="25000" lnSpcReduction="20000"/>
          </a:bodyPr>
          <a:lstStyle/>
          <a:p>
            <a:endParaRPr lang="en-IN" dirty="0"/>
          </a:p>
          <a:p>
            <a:pPr marL="0" indent="0" algn="just">
              <a:buNone/>
            </a:pPr>
            <a:r>
              <a:rPr lang="en-IN" sz="8000" dirty="0"/>
              <a:t>There are various modes of digital payments that have become increasingly popular due to their</a:t>
            </a:r>
          </a:p>
          <a:p>
            <a:pPr marL="0" indent="0" algn="just">
              <a:buNone/>
            </a:pPr>
            <a:r>
              <a:rPr lang="en-IN" sz="8000" dirty="0"/>
              <a:t>convenience and accessibility.</a:t>
            </a:r>
          </a:p>
          <a:p>
            <a:pPr marL="0" indent="0" algn="just">
              <a:buNone/>
            </a:pPr>
            <a:r>
              <a:rPr lang="en-IN" sz="8000" dirty="0"/>
              <a:t>▪ Here's a brief overview of each:</a:t>
            </a:r>
          </a:p>
          <a:p>
            <a:pPr marL="0" indent="0" algn="just">
              <a:buNone/>
            </a:pPr>
            <a:r>
              <a:rPr lang="en-IN" sz="8000" b="1" dirty="0"/>
              <a:t>1. Banking cards:</a:t>
            </a:r>
            <a:endParaRPr lang="en-IN" sz="8000" dirty="0"/>
          </a:p>
          <a:p>
            <a:pPr marL="0" indent="0" algn="just">
              <a:buNone/>
            </a:pPr>
            <a:r>
              <a:rPr lang="en-IN" sz="8000" dirty="0"/>
              <a:t>Cards are among the most widely used payment methods and come with various features and benefits such as security of payments, convenience, etc. The main advantage of debit/credit or prepaid banking cards is that they can be used to make other types of digital payments. </a:t>
            </a:r>
          </a:p>
          <a:p>
            <a:pPr marL="0" indent="0" algn="just">
              <a:buNone/>
            </a:pPr>
            <a:endParaRPr lang="en-IN" sz="8000" dirty="0"/>
          </a:p>
          <a:p>
            <a:pPr marL="0" indent="0" algn="just">
              <a:buNone/>
            </a:pPr>
            <a:r>
              <a:rPr lang="en-IN" sz="8000" dirty="0"/>
              <a:t>For example, customers can store card information in digital payment apps or mobile wallets to make a cashless payment. Some of the most reputed and well-known card payment systems are Visa, </a:t>
            </a:r>
            <a:r>
              <a:rPr lang="en-IN" sz="8000" dirty="0" err="1"/>
              <a:t>Rupay</a:t>
            </a:r>
            <a:r>
              <a:rPr lang="en-IN" sz="8000" dirty="0"/>
              <a:t> and MasterCard, among others. Banking cards can be used for online purchases, in digital payment apps, </a:t>
            </a:r>
            <a:r>
              <a:rPr lang="en-IN" sz="8000" dirty="0" err="1"/>
              <a:t>PoS</a:t>
            </a:r>
            <a:r>
              <a:rPr lang="en-IN" sz="8000" dirty="0"/>
              <a:t> machines, online transactions, etc.</a:t>
            </a:r>
          </a:p>
          <a:p>
            <a:pPr marL="0" indent="0" algn="just">
              <a:buNone/>
            </a:pPr>
            <a:endParaRPr lang="en-IN" sz="8000" b="1" dirty="0"/>
          </a:p>
          <a:p>
            <a:pPr marL="0" indent="0" algn="just">
              <a:buNone/>
            </a:pPr>
            <a:r>
              <a:rPr lang="en-IN" sz="8000" b="1" dirty="0"/>
              <a:t>2. Unified Payment Interface (UPI)</a:t>
            </a:r>
            <a:endParaRPr lang="en-IN" sz="8000" dirty="0"/>
          </a:p>
          <a:p>
            <a:pPr marL="0" indent="0" algn="just">
              <a:buNone/>
            </a:pPr>
            <a:r>
              <a:rPr lang="en-IN" sz="8000" dirty="0"/>
              <a:t>UPI is a payment system that culminates numerous bank accounts into a single application, allowing the transfer of money easily between any two parties. As compared to NEFT, RTGS, and IMPS, UPI is far more well-defined and standardized across banks. You can use UPI to initiate a bank transfer from anywhere in just a few clicks. </a:t>
            </a:r>
          </a:p>
          <a:p>
            <a:pPr marL="0" indent="0" algn="just">
              <a:buNone/>
            </a:pPr>
            <a:endParaRPr lang="en-IN" sz="8000" dirty="0"/>
          </a:p>
          <a:p>
            <a:pPr marL="0" indent="0" algn="just">
              <a:buNone/>
            </a:pPr>
            <a:r>
              <a:rPr lang="en-IN" sz="8000" dirty="0"/>
              <a:t> The benefit of using UPI is that it allows you to pay directly from your bank account, without the need to type in the card or bank details. This method has become one of the most popular digital payment modes in 2020, with October witnessing over 2 billion transactions.</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C2CB434-80EE-9FEF-0D73-985767DC4B0E}"/>
              </a:ext>
            </a:extLst>
          </p:cNvPr>
          <p:cNvSpPr>
            <a:spLocks noGrp="1"/>
          </p:cNvSpPr>
          <p:nvPr>
            <p:ph idx="1"/>
          </p:nvPr>
        </p:nvSpPr>
        <p:spPr>
          <a:xfrm>
            <a:off x="338667" y="355600"/>
            <a:ext cx="13326533" cy="7061200"/>
          </a:xfrm>
        </p:spPr>
        <p:txBody>
          <a:bodyPr>
            <a:normAutofit/>
          </a:bodyPr>
          <a:lstStyle/>
          <a:p>
            <a:r>
              <a:rPr lang="en-IN" dirty="0"/>
              <a:t>Electronic wallets or e-wallets store financial information and allow users to make online transactions quickly. E-wallet is a type of pre-paid account in which a user can store his/her money for any future online transaction. </a:t>
            </a:r>
          </a:p>
          <a:p>
            <a:endParaRPr lang="en-IN" b="1" dirty="0"/>
          </a:p>
          <a:p>
            <a:pPr marL="0" indent="0">
              <a:buNone/>
            </a:pPr>
            <a:r>
              <a:rPr lang="en-IN" b="1" dirty="0"/>
              <a:t>4. Unstructured Supplementary Service Data (USSD)</a:t>
            </a:r>
            <a:endParaRPr lang="en-IN" dirty="0"/>
          </a:p>
          <a:p>
            <a:pPr algn="just"/>
            <a:r>
              <a:rPr lang="en-IN" dirty="0"/>
              <a:t>USSD technology enables mobile banking services through basic phones, allowing users to access banking services by </a:t>
            </a:r>
            <a:r>
              <a:rPr lang="en-IN" dirty="0" err="1"/>
              <a:t>dialing</a:t>
            </a:r>
            <a:r>
              <a:rPr lang="en-IN" dirty="0"/>
              <a:t> a </a:t>
            </a:r>
            <a:r>
              <a:rPr lang="en-IN" dirty="0" err="1"/>
              <a:t>shortcode</a:t>
            </a:r>
            <a:r>
              <a:rPr lang="en-IN" dirty="0"/>
              <a:t>. </a:t>
            </a:r>
          </a:p>
          <a:p>
            <a:pPr algn="just"/>
            <a:r>
              <a:rPr lang="en-IN" dirty="0"/>
              <a:t>This method doesn't require internet connectivity and is particularly beneficial in regions with limited internet access. USSD was launched for those sections of India’s population which don’t have access to proper banking and internet facilities. </a:t>
            </a:r>
          </a:p>
          <a:p>
            <a:pPr algn="just"/>
            <a:r>
              <a:rPr lang="en-IN" dirty="0"/>
              <a:t>Under USSD, mobile banking transactions are possible without an internet connection by simply </a:t>
            </a:r>
            <a:r>
              <a:rPr lang="en-IN" dirty="0" err="1"/>
              <a:t>dialing</a:t>
            </a:r>
            <a:r>
              <a:rPr lang="en-IN" dirty="0"/>
              <a:t> *99# on any essential feature phone. </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4287500" cy="80581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4287500" cy="80581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4287500" cy="80581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4287500" cy="80581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4287500" cy="80581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4287500" cy="80581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4287500" cy="8058150"/>
          </a:xfrm>
          <a:prstGeom prst="rect">
            <a:avLst/>
          </a:prstGeom>
        </p:spPr>
      </p:pic>
      <p:sp>
        <p:nvSpPr>
          <p:cNvPr id="4" name="Content Placeholder 3">
            <a:extLst>
              <a:ext uri="{FF2B5EF4-FFF2-40B4-BE49-F238E27FC236}">
                <a16:creationId xmlns:a16="http://schemas.microsoft.com/office/drawing/2014/main" id="{36A90B97-DA7F-A170-3D87-8DA490A75AD7}"/>
              </a:ext>
            </a:extLst>
          </p:cNvPr>
          <p:cNvSpPr>
            <a:spLocks noGrp="1"/>
          </p:cNvSpPr>
          <p:nvPr>
            <p:ph idx="1"/>
          </p:nvPr>
        </p:nvSpPr>
        <p:spPr>
          <a:xfrm>
            <a:off x="457200" y="304800"/>
            <a:ext cx="13411200" cy="7478712"/>
          </a:xfrm>
        </p:spPr>
        <p:txBody>
          <a:bodyPr>
            <a:normAutofit/>
          </a:bodyPr>
          <a:lstStyle/>
          <a:p>
            <a:pPr marL="0" indent="0">
              <a:buNone/>
            </a:pPr>
            <a:r>
              <a:rPr lang="en-IN" b="1" dirty="0"/>
              <a:t>What is credit card fraud?</a:t>
            </a:r>
            <a:endParaRPr lang="en-IN" dirty="0"/>
          </a:p>
          <a:p>
            <a:r>
              <a:rPr lang="en-IN" dirty="0"/>
              <a:t>Credit card fraud refers to unauthorised transactions made using a counterfeit card, a stolen card, or stolen card details. There are various types of card fraud, and they can result in losses for both cardholders and merchants.</a:t>
            </a:r>
          </a:p>
          <a:p>
            <a:pPr marL="0" indent="0">
              <a:buNone/>
            </a:pPr>
            <a:endParaRPr lang="en-IN" dirty="0"/>
          </a:p>
          <a:p>
            <a:r>
              <a:rPr lang="en-IN" dirty="0"/>
              <a:t>Card fraud encompasses the misuse of lost or stolen cards, where fraudsters use a card that belongs to someone else to withdraw money at a cash point or make a purchase in a physical location. </a:t>
            </a:r>
          </a:p>
          <a:p>
            <a:pPr marL="0" indent="0">
              <a:buNone/>
            </a:pPr>
            <a:endParaRPr lang="en-IN" dirty="0"/>
          </a:p>
          <a:p>
            <a:r>
              <a:rPr lang="en-IN" dirty="0"/>
              <a:t>But that’s not the only way it happens. In many instances, card fraud results from perpetrators employing different techniques to access card details and then using that information to make a transaction online.</a:t>
            </a:r>
          </a:p>
          <a:p>
            <a:endParaRPr lang="en-IN" dirty="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8FFF8-5DCF-AEBF-B6DF-44CDB5C8938D}"/>
              </a:ext>
            </a:extLst>
          </p:cNvPr>
          <p:cNvSpPr>
            <a:spLocks noGrp="1"/>
          </p:cNvSpPr>
          <p:nvPr>
            <p:ph type="title"/>
          </p:nvPr>
        </p:nvSpPr>
        <p:spPr>
          <a:xfrm>
            <a:off x="2590800" y="213678"/>
            <a:ext cx="9997440" cy="1143000"/>
          </a:xfrm>
        </p:spPr>
        <p:txBody>
          <a:bodyPr>
            <a:normAutofit fontScale="90000"/>
          </a:bodyPr>
          <a:lstStyle/>
          <a:p>
            <a:br>
              <a:rPr lang="en-IN" b="1" dirty="0"/>
            </a:br>
            <a:r>
              <a:rPr lang="en-IN" b="1" dirty="0"/>
              <a:t>Types of credit card fraud</a:t>
            </a:r>
            <a:br>
              <a:rPr lang="en-IN" dirty="0"/>
            </a:br>
            <a:endParaRPr lang="en-US" dirty="0"/>
          </a:p>
        </p:txBody>
      </p:sp>
      <p:sp>
        <p:nvSpPr>
          <p:cNvPr id="3" name="Content Placeholder 2">
            <a:extLst>
              <a:ext uri="{FF2B5EF4-FFF2-40B4-BE49-F238E27FC236}">
                <a16:creationId xmlns:a16="http://schemas.microsoft.com/office/drawing/2014/main" id="{9EFC6EA9-FA96-7AA5-D09B-55FEFEAEFC64}"/>
              </a:ext>
            </a:extLst>
          </p:cNvPr>
          <p:cNvSpPr>
            <a:spLocks noGrp="1"/>
          </p:cNvSpPr>
          <p:nvPr>
            <p:ph idx="1"/>
          </p:nvPr>
        </p:nvSpPr>
        <p:spPr>
          <a:xfrm>
            <a:off x="396240" y="1188720"/>
            <a:ext cx="13060680" cy="6492240"/>
          </a:xfrm>
        </p:spPr>
        <p:txBody>
          <a:bodyPr>
            <a:normAutofit fontScale="77500" lnSpcReduction="20000"/>
          </a:bodyPr>
          <a:lstStyle/>
          <a:p>
            <a:r>
              <a:rPr lang="en-IN" dirty="0"/>
              <a:t>Within credit card fraud, there are two primary categories: </a:t>
            </a:r>
            <a:r>
              <a:rPr lang="en-IN" b="1" dirty="0"/>
              <a:t>card-present fraud</a:t>
            </a:r>
            <a:r>
              <a:rPr lang="en-IN" dirty="0"/>
              <a:t> and </a:t>
            </a:r>
            <a:r>
              <a:rPr lang="en-IN" b="1" dirty="0"/>
              <a:t>card-not-present (CNP) fraud</a:t>
            </a:r>
            <a:r>
              <a:rPr lang="en-IN" dirty="0"/>
              <a:t>.</a:t>
            </a:r>
          </a:p>
          <a:p>
            <a:r>
              <a:rPr lang="en-IN" dirty="0"/>
              <a:t>Card-present fraud happens when someone makes an unauthorised card payment in a physical location, such as a shop or a cash machine. </a:t>
            </a:r>
          </a:p>
          <a:p>
            <a:pPr marL="0" indent="0">
              <a:buNone/>
            </a:pPr>
            <a:r>
              <a:rPr lang="en-IN" dirty="0"/>
              <a:t>Types of card-present fraud include:</a:t>
            </a:r>
          </a:p>
          <a:p>
            <a:r>
              <a:rPr lang="en-IN" b="1" dirty="0"/>
              <a:t>Counterfeit: </a:t>
            </a:r>
            <a:r>
              <a:rPr lang="en-IN" dirty="0"/>
              <a:t>transactions involving fake cards created with stolen card data</a:t>
            </a:r>
          </a:p>
          <a:p>
            <a:r>
              <a:rPr lang="en-IN" b="1" dirty="0"/>
              <a:t>Lost and stolen: </a:t>
            </a:r>
            <a:r>
              <a:rPr lang="en-IN" dirty="0"/>
              <a:t>when fraudsters exploit lost or stolen cards to make unauthorised purchases</a:t>
            </a:r>
          </a:p>
          <a:p>
            <a:r>
              <a:rPr lang="en-IN" b="1" dirty="0"/>
              <a:t>Card not received:</a:t>
            </a:r>
            <a:r>
              <a:rPr lang="en-IN" dirty="0"/>
              <a:t> where scammers intercept cards sent by banks through the post</a:t>
            </a:r>
          </a:p>
          <a:p>
            <a:r>
              <a:rPr lang="en-IN" dirty="0"/>
              <a:t>CNP (also known as remote purchase fraud) fraud happens when someone uses card details that aren’t theirs to make purchases without possessing the physical card. This is the most common type, accounting for </a:t>
            </a:r>
            <a:r>
              <a:rPr lang="en-IN" u="sng" dirty="0"/>
              <a:t>84% of card fraud</a:t>
            </a:r>
            <a:r>
              <a:rPr lang="en-IN" dirty="0"/>
              <a:t> in recent years.</a:t>
            </a:r>
          </a:p>
          <a:p>
            <a:r>
              <a:rPr lang="en-IN" dirty="0"/>
              <a:t>Fraudsters use various techniques to obtain card details and make remote purchases:</a:t>
            </a:r>
          </a:p>
          <a:p>
            <a:r>
              <a:rPr lang="en-IN" b="1" dirty="0"/>
              <a:t>Data breaches: </a:t>
            </a:r>
            <a:r>
              <a:rPr lang="en-IN" dirty="0"/>
              <a:t>fraudsters often go after retailers and banks by exploiting security weaknesses to steal card details and other identity information to make transactions</a:t>
            </a:r>
          </a:p>
          <a:p>
            <a:r>
              <a:rPr lang="en-IN" b="1" dirty="0"/>
              <a:t>Phishing:</a:t>
            </a:r>
            <a:r>
              <a:rPr lang="en-IN" dirty="0"/>
              <a:t> criminals pretend to be legitimate organisations to trick others into sharing their card details through emails, websites, messages, or phone calls</a:t>
            </a:r>
          </a:p>
          <a:p>
            <a:r>
              <a:rPr lang="en-IN" b="1" dirty="0"/>
              <a:t>Skimming:</a:t>
            </a:r>
            <a:r>
              <a:rPr lang="en-IN" dirty="0"/>
              <a:t> criminals use devices at ATMs or point-of-sale terminals to capture card information</a:t>
            </a:r>
          </a:p>
          <a:p>
            <a:r>
              <a:rPr lang="en-IN" b="1" dirty="0"/>
              <a:t>Malware:</a:t>
            </a:r>
            <a:r>
              <a:rPr lang="en-IN" dirty="0"/>
              <a:t> fraudsters infect a device with malware to record keystrokes to steal card details</a:t>
            </a:r>
          </a:p>
          <a:p>
            <a:endParaRPr lang="en-US" dirty="0"/>
          </a:p>
        </p:txBody>
      </p:sp>
    </p:spTree>
    <p:extLst>
      <p:ext uri="{BB962C8B-B14F-4D97-AF65-F5344CB8AC3E}">
        <p14:creationId xmlns:p14="http://schemas.microsoft.com/office/powerpoint/2010/main" val="30288403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66910-1DD5-E025-F2C4-D5DBAC3E72AF}"/>
              </a:ext>
            </a:extLst>
          </p:cNvPr>
          <p:cNvSpPr>
            <a:spLocks noGrp="1"/>
          </p:cNvSpPr>
          <p:nvPr>
            <p:ph type="title"/>
          </p:nvPr>
        </p:nvSpPr>
        <p:spPr>
          <a:xfrm>
            <a:off x="457200" y="274638"/>
            <a:ext cx="12293600" cy="1143000"/>
          </a:xfrm>
        </p:spPr>
        <p:txBody>
          <a:bodyPr/>
          <a:lstStyle/>
          <a:p>
            <a:r>
              <a:rPr lang="en-US" dirty="0"/>
              <a:t>Credit Card Fraud Vs Charge Back Fraud</a:t>
            </a:r>
          </a:p>
        </p:txBody>
      </p:sp>
      <p:sp>
        <p:nvSpPr>
          <p:cNvPr id="3" name="Content Placeholder 2">
            <a:extLst>
              <a:ext uri="{FF2B5EF4-FFF2-40B4-BE49-F238E27FC236}">
                <a16:creationId xmlns:a16="http://schemas.microsoft.com/office/drawing/2014/main" id="{5A317388-5132-CF11-71AA-8C57AD569377}"/>
              </a:ext>
            </a:extLst>
          </p:cNvPr>
          <p:cNvSpPr>
            <a:spLocks noGrp="1"/>
          </p:cNvSpPr>
          <p:nvPr>
            <p:ph idx="1"/>
          </p:nvPr>
        </p:nvSpPr>
        <p:spPr>
          <a:xfrm>
            <a:off x="457199" y="1600200"/>
            <a:ext cx="13089467" cy="5729817"/>
          </a:xfrm>
        </p:spPr>
        <p:txBody>
          <a:bodyPr>
            <a:normAutofit/>
          </a:bodyPr>
          <a:lstStyle/>
          <a:p>
            <a:r>
              <a:rPr lang="en-IN" dirty="0"/>
              <a:t>With credit card fraud, a criminal makes an unauthorised transaction using someone else's card. In contrast, </a:t>
            </a:r>
            <a:r>
              <a:rPr lang="en-IN" u="sng" dirty="0"/>
              <a:t>chargeback fraud</a:t>
            </a:r>
            <a:r>
              <a:rPr lang="en-IN" dirty="0"/>
              <a:t>, sometimes called </a:t>
            </a:r>
            <a:r>
              <a:rPr lang="en-IN" u="sng" dirty="0"/>
              <a:t>friendly fraud</a:t>
            </a:r>
            <a:r>
              <a:rPr lang="en-IN" dirty="0"/>
              <a:t>, involves a legitimate cardholder falsely disputing a valid transaction, resulting in merchant losses.</a:t>
            </a:r>
          </a:p>
          <a:p>
            <a:r>
              <a:rPr lang="en-IN" dirty="0"/>
              <a:t>Chargeback fraud can occur when a consumer wrongly initiates a chargeback because they mistakenly believed they didn’t authorize a payment. For instance, if they forgot they made a purchase or didn’t recognise the billing descriptor. Equally, it can happen when a customer purchases something and then fraudulently claims they didn’t authorise the transaction or receive the product.</a:t>
            </a:r>
          </a:p>
          <a:p>
            <a:endParaRPr lang="en-US" dirty="0"/>
          </a:p>
        </p:txBody>
      </p:sp>
    </p:spTree>
    <p:extLst>
      <p:ext uri="{BB962C8B-B14F-4D97-AF65-F5344CB8AC3E}">
        <p14:creationId xmlns:p14="http://schemas.microsoft.com/office/powerpoint/2010/main" val="123458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5AFF1-F5CA-873D-BBB1-E72D68F8BD7B}"/>
              </a:ext>
            </a:extLst>
          </p:cNvPr>
          <p:cNvSpPr>
            <a:spLocks noGrp="1"/>
          </p:cNvSpPr>
          <p:nvPr>
            <p:ph type="title"/>
          </p:nvPr>
        </p:nvSpPr>
        <p:spPr>
          <a:xfrm>
            <a:off x="2286000" y="338667"/>
            <a:ext cx="8449734" cy="1261533"/>
          </a:xfrm>
        </p:spPr>
        <p:txBody>
          <a:bodyPr>
            <a:normAutofit fontScale="90000"/>
          </a:bodyPr>
          <a:lstStyle/>
          <a:p>
            <a:r>
              <a:rPr lang="en-IN" b="1" dirty="0"/>
              <a:t>How card fraud impacts ecommerce merchants</a:t>
            </a:r>
            <a:br>
              <a:rPr lang="en-IN" dirty="0"/>
            </a:br>
            <a:endParaRPr lang="en-US" dirty="0"/>
          </a:p>
        </p:txBody>
      </p:sp>
      <p:sp>
        <p:nvSpPr>
          <p:cNvPr id="3" name="Content Placeholder 2">
            <a:extLst>
              <a:ext uri="{FF2B5EF4-FFF2-40B4-BE49-F238E27FC236}">
                <a16:creationId xmlns:a16="http://schemas.microsoft.com/office/drawing/2014/main" id="{1FDA91E0-F412-164C-C892-9C4922DC5E9E}"/>
              </a:ext>
            </a:extLst>
          </p:cNvPr>
          <p:cNvSpPr>
            <a:spLocks noGrp="1"/>
          </p:cNvSpPr>
          <p:nvPr>
            <p:ph idx="1"/>
          </p:nvPr>
        </p:nvSpPr>
        <p:spPr>
          <a:xfrm>
            <a:off x="457200" y="1600200"/>
            <a:ext cx="13004800" cy="6457950"/>
          </a:xfrm>
        </p:spPr>
        <p:txBody>
          <a:bodyPr>
            <a:normAutofit/>
          </a:bodyPr>
          <a:lstStyle/>
          <a:p>
            <a:r>
              <a:rPr lang="en-IN" dirty="0"/>
              <a:t>Card fraud causes financial losses for merchants because they're often held liable. Additionally, instances of fraud give customers a negative image of the merchant, damaging customer trust and impacting retention.</a:t>
            </a:r>
          </a:p>
          <a:p>
            <a:r>
              <a:rPr lang="en-IN" dirty="0"/>
              <a:t>Three parties could potentially be held liable for card fraud:</a:t>
            </a:r>
          </a:p>
          <a:p>
            <a:r>
              <a:rPr lang="en-IN" b="1" dirty="0"/>
              <a:t>The cardholder: </a:t>
            </a:r>
            <a:r>
              <a:rPr lang="en-IN" dirty="0"/>
              <a:t>if they violate the terms or conditions of the card agreement, are found to be negligent in safeguarding their card details, or fail to report the fraud in a timely manner</a:t>
            </a:r>
          </a:p>
          <a:p>
            <a:r>
              <a:rPr lang="en-IN" b="1" dirty="0"/>
              <a:t>The bank/card issuer:</a:t>
            </a:r>
            <a:r>
              <a:rPr lang="en-IN" dirty="0"/>
              <a:t> if their security or verification systems are inadequate</a:t>
            </a:r>
          </a:p>
          <a:p>
            <a:r>
              <a:rPr lang="en-IN" b="1" dirty="0"/>
              <a:t>The merchant: </a:t>
            </a:r>
            <a:r>
              <a:rPr lang="en-IN" dirty="0"/>
              <a:t>if they don’t comply with security regulations, their security systems fail, or if it’s deemed they didn’t do enough to verify the identity of the person making the payment</a:t>
            </a:r>
          </a:p>
          <a:p>
            <a:endParaRPr lang="en-US" dirty="0"/>
          </a:p>
        </p:txBody>
      </p:sp>
    </p:spTree>
    <p:extLst>
      <p:ext uri="{BB962C8B-B14F-4D97-AF65-F5344CB8AC3E}">
        <p14:creationId xmlns:p14="http://schemas.microsoft.com/office/powerpoint/2010/main" val="30705511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5942BB-FBCA-DA8D-088D-66E0D2D6C246}"/>
              </a:ext>
            </a:extLst>
          </p:cNvPr>
          <p:cNvSpPr>
            <a:spLocks noGrp="1"/>
          </p:cNvSpPr>
          <p:nvPr>
            <p:ph idx="1"/>
          </p:nvPr>
        </p:nvSpPr>
        <p:spPr>
          <a:xfrm>
            <a:off x="502920" y="960120"/>
            <a:ext cx="13411200" cy="6598920"/>
          </a:xfrm>
        </p:spPr>
        <p:txBody>
          <a:bodyPr>
            <a:normAutofit/>
          </a:bodyPr>
          <a:lstStyle/>
          <a:p>
            <a:r>
              <a:rPr lang="en-IN" dirty="0"/>
              <a:t>In the case of card fraud resulting from large data hacks, insurance companies might also pay for some of the costs of the fraud.</a:t>
            </a:r>
          </a:p>
          <a:p>
            <a:pPr marL="0" indent="0">
              <a:buNone/>
            </a:pPr>
            <a:endParaRPr lang="en-IN" dirty="0"/>
          </a:p>
          <a:p>
            <a:r>
              <a:rPr lang="en-IN" dirty="0"/>
              <a:t>Usually, if the cardholder reports the fraud promptly, they're not held liable, or their liability is limited to a small amount (£50 or less). </a:t>
            </a:r>
          </a:p>
          <a:p>
            <a:pPr marL="0" indent="0">
              <a:buNone/>
            </a:pPr>
            <a:endParaRPr lang="en-IN" dirty="0"/>
          </a:p>
          <a:p>
            <a:r>
              <a:rPr lang="en-IN" dirty="0"/>
              <a:t>Clearly, this results in financial damage for online merchants. Let's say a fraudster uses a stolen card to purchase something from your online store. You'd end up having to refund the customer for the purchase amount, plus you lose inventory for the purchase.</a:t>
            </a:r>
          </a:p>
          <a:p>
            <a:endParaRPr lang="en-US" dirty="0"/>
          </a:p>
        </p:txBody>
      </p:sp>
    </p:spTree>
    <p:extLst>
      <p:ext uri="{BB962C8B-B14F-4D97-AF65-F5344CB8AC3E}">
        <p14:creationId xmlns:p14="http://schemas.microsoft.com/office/powerpoint/2010/main" val="38223305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B75BE-B680-2DF9-71DC-657AE7177A91}"/>
              </a:ext>
            </a:extLst>
          </p:cNvPr>
          <p:cNvSpPr>
            <a:spLocks noGrp="1"/>
          </p:cNvSpPr>
          <p:nvPr>
            <p:ph type="title"/>
          </p:nvPr>
        </p:nvSpPr>
        <p:spPr/>
        <p:txBody>
          <a:bodyPr>
            <a:normAutofit fontScale="90000"/>
          </a:bodyPr>
          <a:lstStyle/>
          <a:p>
            <a:r>
              <a:rPr lang="en-IN" b="1" dirty="0"/>
              <a:t>How to reduce card fraud</a:t>
            </a:r>
            <a:br>
              <a:rPr lang="en-IN" dirty="0"/>
            </a:br>
            <a:endParaRPr lang="en-US" dirty="0"/>
          </a:p>
        </p:txBody>
      </p:sp>
      <p:sp>
        <p:nvSpPr>
          <p:cNvPr id="3" name="Content Placeholder 2">
            <a:extLst>
              <a:ext uri="{FF2B5EF4-FFF2-40B4-BE49-F238E27FC236}">
                <a16:creationId xmlns:a16="http://schemas.microsoft.com/office/drawing/2014/main" id="{5EDCCFD3-E0B4-0817-2181-39F8F886EBA2}"/>
              </a:ext>
            </a:extLst>
          </p:cNvPr>
          <p:cNvSpPr>
            <a:spLocks noGrp="1"/>
          </p:cNvSpPr>
          <p:nvPr>
            <p:ph idx="1"/>
          </p:nvPr>
        </p:nvSpPr>
        <p:spPr>
          <a:xfrm>
            <a:off x="457200" y="1188720"/>
            <a:ext cx="13830300" cy="6594792"/>
          </a:xfrm>
        </p:spPr>
        <p:txBody>
          <a:bodyPr>
            <a:normAutofit lnSpcReduction="10000"/>
          </a:bodyPr>
          <a:lstStyle/>
          <a:p>
            <a:r>
              <a:rPr lang="en-IN" dirty="0"/>
              <a:t>Ecommerce businesses have good reason to worry about card fraud: it harms customers and hinders growth. Here are a few ways to address it:</a:t>
            </a:r>
          </a:p>
          <a:p>
            <a:pPr marL="0" indent="0">
              <a:buNone/>
            </a:pPr>
            <a:r>
              <a:rPr lang="en-IN" b="1" dirty="0"/>
              <a:t>Watch out for suspicious activity</a:t>
            </a:r>
            <a:endParaRPr lang="en-IN" dirty="0"/>
          </a:p>
          <a:p>
            <a:r>
              <a:rPr lang="en-IN" dirty="0"/>
              <a:t>If everyone who deals with orders and payments on an ecommerce team is alert to the signs of </a:t>
            </a:r>
            <a:r>
              <a:rPr lang="en-IN" u="sng" dirty="0"/>
              <a:t>CNP fraud</a:t>
            </a:r>
            <a:r>
              <a:rPr lang="en-IN" dirty="0"/>
              <a:t>, they can block or pause any potentially fraudulent transactions they notice.</a:t>
            </a:r>
          </a:p>
          <a:p>
            <a:pPr marL="0" indent="0">
              <a:buNone/>
            </a:pPr>
            <a:r>
              <a:rPr lang="en-IN" dirty="0"/>
              <a:t>Here are some </a:t>
            </a:r>
            <a:r>
              <a:rPr lang="en-IN" u="sng" dirty="0"/>
              <a:t>potential indicators</a:t>
            </a:r>
            <a:r>
              <a:rPr lang="en-IN" dirty="0"/>
              <a:t> of card fraud to look out for:</a:t>
            </a:r>
          </a:p>
          <a:p>
            <a:r>
              <a:rPr lang="en-IN" dirty="0"/>
              <a:t>multiple attempts to place an order</a:t>
            </a:r>
          </a:p>
          <a:p>
            <a:r>
              <a:rPr lang="en-IN" dirty="0"/>
              <a:t>orders made with the same card from different IP addresses</a:t>
            </a:r>
          </a:p>
          <a:p>
            <a:r>
              <a:rPr lang="en-IN" dirty="0"/>
              <a:t>orders where the billing address and delivery address are different</a:t>
            </a:r>
          </a:p>
          <a:p>
            <a:r>
              <a:rPr lang="en-IN" dirty="0"/>
              <a:t>multiple orders sent to the same delivery address</a:t>
            </a:r>
          </a:p>
          <a:p>
            <a:r>
              <a:rPr lang="en-IN" dirty="0"/>
              <a:t>unusual or spam-like email addresses</a:t>
            </a:r>
          </a:p>
          <a:p>
            <a:endParaRPr lang="en-US" dirty="0"/>
          </a:p>
        </p:txBody>
      </p:sp>
    </p:spTree>
    <p:extLst>
      <p:ext uri="{BB962C8B-B14F-4D97-AF65-F5344CB8AC3E}">
        <p14:creationId xmlns:p14="http://schemas.microsoft.com/office/powerpoint/2010/main" val="15490531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6E7FE6-53C8-1402-BF60-26EA486091AD}"/>
              </a:ext>
            </a:extLst>
          </p:cNvPr>
          <p:cNvSpPr>
            <a:spLocks noGrp="1"/>
          </p:cNvSpPr>
          <p:nvPr>
            <p:ph idx="1"/>
          </p:nvPr>
        </p:nvSpPr>
        <p:spPr>
          <a:xfrm>
            <a:off x="457200" y="472440"/>
            <a:ext cx="13578840" cy="7311072"/>
          </a:xfrm>
        </p:spPr>
        <p:txBody>
          <a:bodyPr>
            <a:normAutofit fontScale="62500" lnSpcReduction="20000"/>
          </a:bodyPr>
          <a:lstStyle/>
          <a:p>
            <a:pPr marL="0" indent="0">
              <a:buNone/>
            </a:pPr>
            <a:r>
              <a:rPr lang="en-IN" b="1" dirty="0"/>
              <a:t>Follow online payment best practices</a:t>
            </a:r>
            <a:endParaRPr lang="en-IN" dirty="0"/>
          </a:p>
          <a:p>
            <a:pPr algn="just"/>
            <a:r>
              <a:rPr lang="en-IN" dirty="0"/>
              <a:t>Ecommerce merchants must take action to keep fraudsters from using stolen cards on their sites. In general, they’ll need to implement measures in their payment flows to verify that the person making the payment is the cardholder.</a:t>
            </a:r>
          </a:p>
          <a:p>
            <a:pPr marL="0" indent="0" algn="just">
              <a:buNone/>
            </a:pPr>
            <a:endParaRPr lang="en-IN" dirty="0"/>
          </a:p>
          <a:p>
            <a:pPr algn="just"/>
            <a:r>
              <a:rPr lang="en-IN" dirty="0"/>
              <a:t>Two-factor authentication (2FA) adds extra steps to a payment flow so customers can verify their identity. When 2FA is enabled, shoppers must enter additional information like a password or code sent via SMS to their phone. This makes it trickier for criminals to use someone else's card.</a:t>
            </a:r>
          </a:p>
          <a:p>
            <a:pPr marL="0" indent="0" algn="just">
              <a:buNone/>
            </a:pPr>
            <a:endParaRPr lang="en-IN" dirty="0"/>
          </a:p>
          <a:p>
            <a:pPr algn="just"/>
            <a:r>
              <a:rPr lang="en-IN" u="sng" dirty="0"/>
              <a:t>SCA</a:t>
            </a:r>
            <a:r>
              <a:rPr lang="en-IN" dirty="0"/>
              <a:t> is now required for online card payments in the UK and most countries in the </a:t>
            </a:r>
            <a:r>
              <a:rPr lang="en-IN" u="sng" dirty="0"/>
              <a:t>European Economic Area</a:t>
            </a:r>
            <a:r>
              <a:rPr lang="en-IN" dirty="0"/>
              <a:t>. This </a:t>
            </a:r>
            <a:r>
              <a:rPr lang="en-IN" u="sng" dirty="0">
                <a:hlinkClick r:id="rId2"/>
              </a:rPr>
              <a:t>regulation</a:t>
            </a:r>
            <a:r>
              <a:rPr lang="en-IN" dirty="0"/>
              <a:t> means all ecommerce businesses should have extra authentication steps in their card payment flows. SCA asks customers to verify their identity with two of the following:</a:t>
            </a:r>
          </a:p>
          <a:p>
            <a:pPr algn="just"/>
            <a:r>
              <a:rPr lang="en-IN" dirty="0"/>
              <a:t>something they know — like a password</a:t>
            </a:r>
          </a:p>
          <a:p>
            <a:pPr algn="just"/>
            <a:r>
              <a:rPr lang="en-IN" dirty="0"/>
              <a:t>something they own — like a card or a phone</a:t>
            </a:r>
          </a:p>
          <a:p>
            <a:pPr algn="just"/>
            <a:r>
              <a:rPr lang="en-IN" dirty="0"/>
              <a:t>something they are — biometric data like fingerprints</a:t>
            </a:r>
          </a:p>
          <a:p>
            <a:pPr marL="0" indent="0" algn="just">
              <a:buNone/>
            </a:pPr>
            <a:endParaRPr lang="en-IN" dirty="0"/>
          </a:p>
          <a:p>
            <a:pPr algn="just"/>
            <a:r>
              <a:rPr lang="en-IN" dirty="0"/>
              <a:t>One way merchants can make sure they comply with these requirements is by using </a:t>
            </a:r>
            <a:r>
              <a:rPr lang="en-IN" u="sng" dirty="0"/>
              <a:t>open banking payments,</a:t>
            </a:r>
            <a:r>
              <a:rPr lang="en-IN" dirty="0"/>
              <a:t> which have SCA built-in without adding any friction.</a:t>
            </a:r>
          </a:p>
          <a:p>
            <a:pPr marL="0" indent="0" algn="just">
              <a:buNone/>
            </a:pPr>
            <a:endParaRPr lang="en-IN" dirty="0"/>
          </a:p>
          <a:p>
            <a:pPr algn="just"/>
            <a:r>
              <a:rPr lang="en-IN" dirty="0"/>
              <a:t>Another way to make payments on an ecommerce site more secure is to ensure they operate in line with Payment Card Industry Data Security Standards (PCI DSS). PCI DSS is a set of regulations that protect sensitive financial information during transactions and when stored or processed by businesses.</a:t>
            </a:r>
          </a:p>
          <a:p>
            <a:pPr marL="0" indent="0" algn="just">
              <a:buNone/>
            </a:pPr>
            <a:endParaRPr lang="en-IN" dirty="0"/>
          </a:p>
          <a:p>
            <a:pPr algn="just"/>
            <a:r>
              <a:rPr lang="en-IN" dirty="0"/>
              <a:t>By complying with PCI DSS, merchants make it more difficult for hackers to obtain customers' card data. Non-compliance can leave merchants </a:t>
            </a:r>
            <a:r>
              <a:rPr lang="en-IN" u="sng" dirty="0"/>
              <a:t>liable in the case of a data breach</a:t>
            </a:r>
            <a:r>
              <a:rPr lang="en-IN" dirty="0"/>
              <a:t>.</a:t>
            </a:r>
          </a:p>
          <a:p>
            <a:endParaRPr lang="en-US" dirty="0"/>
          </a:p>
        </p:txBody>
      </p:sp>
    </p:spTree>
    <p:extLst>
      <p:ext uri="{BB962C8B-B14F-4D97-AF65-F5344CB8AC3E}">
        <p14:creationId xmlns:p14="http://schemas.microsoft.com/office/powerpoint/2010/main" val="3560464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378F63-E2A2-546E-FA1E-DBB9DCAC7125}"/>
              </a:ext>
            </a:extLst>
          </p:cNvPr>
          <p:cNvSpPr>
            <a:spLocks noGrp="1"/>
          </p:cNvSpPr>
          <p:nvPr>
            <p:ph idx="1"/>
          </p:nvPr>
        </p:nvSpPr>
        <p:spPr>
          <a:xfrm>
            <a:off x="274320" y="335280"/>
            <a:ext cx="13594080" cy="7448232"/>
          </a:xfrm>
        </p:spPr>
        <p:txBody>
          <a:bodyPr>
            <a:normAutofit fontScale="92500"/>
          </a:bodyPr>
          <a:lstStyle/>
          <a:p>
            <a:pPr marL="0" indent="0">
              <a:buNone/>
            </a:pPr>
            <a:r>
              <a:rPr lang="en-IN" b="1" dirty="0"/>
              <a:t>Use card fraud detection software</a:t>
            </a:r>
            <a:endParaRPr lang="en-IN" dirty="0"/>
          </a:p>
          <a:p>
            <a:r>
              <a:rPr lang="en-IN" dirty="0"/>
              <a:t>Card fraud detection software makes it easier to spot fraud. It uses algorithms to automatically check transactions and alerts merchants to potential instances of fraud. It will pause or flag a transaction for review if it looks suspicious.</a:t>
            </a:r>
          </a:p>
          <a:p>
            <a:pPr marL="0" indent="0">
              <a:buNone/>
            </a:pPr>
            <a:r>
              <a:rPr lang="en-IN" b="1" dirty="0"/>
              <a:t>Offer secure checkout with open banking</a:t>
            </a:r>
            <a:endParaRPr lang="en-IN" dirty="0"/>
          </a:p>
          <a:p>
            <a:r>
              <a:rPr lang="en-IN" dirty="0"/>
              <a:t>Even with added SCA steps, fraudsters can still steal cards and card details, making card payments inherently vulnerable to fraud. Offering alternative payment methods that are inherently more secure than cards helps protect businesses from credit card fraud.</a:t>
            </a:r>
          </a:p>
          <a:p>
            <a:r>
              <a:rPr lang="en-IN" dirty="0"/>
              <a:t>Open banking payments, for example, are more secure than card payments. While card payments use SCA, the implementation of SCA for online card payments remains inconsistent. Additionally, open banking helps to reduce instances of fraud because there are no opportunities for fraudsters to steal card details. Open banking providers connect securely with the customer's bank to initiate the payment no sensitive information is shared with the merchant.</a:t>
            </a:r>
          </a:p>
          <a:p>
            <a:endParaRPr lang="en-US" dirty="0"/>
          </a:p>
        </p:txBody>
      </p:sp>
    </p:spTree>
    <p:extLst>
      <p:ext uri="{BB962C8B-B14F-4D97-AF65-F5344CB8AC3E}">
        <p14:creationId xmlns:p14="http://schemas.microsoft.com/office/powerpoint/2010/main" val="6781162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39E6-7546-854B-D685-05D1A3977E14}"/>
              </a:ext>
            </a:extLst>
          </p:cNvPr>
          <p:cNvSpPr>
            <a:spLocks noGrp="1"/>
          </p:cNvSpPr>
          <p:nvPr>
            <p:ph type="title"/>
          </p:nvPr>
        </p:nvSpPr>
        <p:spPr>
          <a:xfrm>
            <a:off x="457200" y="274638"/>
            <a:ext cx="12912436" cy="1143000"/>
          </a:xfrm>
        </p:spPr>
        <p:txBody>
          <a:bodyPr/>
          <a:lstStyle/>
          <a:p>
            <a:r>
              <a:rPr lang="en-US" dirty="0"/>
              <a:t>Encryption and Tokenization</a:t>
            </a:r>
          </a:p>
        </p:txBody>
      </p:sp>
      <p:sp>
        <p:nvSpPr>
          <p:cNvPr id="3" name="Content Placeholder 2">
            <a:extLst>
              <a:ext uri="{FF2B5EF4-FFF2-40B4-BE49-F238E27FC236}">
                <a16:creationId xmlns:a16="http://schemas.microsoft.com/office/drawing/2014/main" id="{D8B0B0B5-B412-917F-6901-A97C3C411294}"/>
              </a:ext>
            </a:extLst>
          </p:cNvPr>
          <p:cNvSpPr>
            <a:spLocks noGrp="1"/>
          </p:cNvSpPr>
          <p:nvPr>
            <p:ph idx="1"/>
          </p:nvPr>
        </p:nvSpPr>
        <p:spPr>
          <a:xfrm>
            <a:off x="457200" y="1260764"/>
            <a:ext cx="13023272" cy="6797386"/>
          </a:xfrm>
        </p:spPr>
        <p:txBody>
          <a:bodyPr>
            <a:normAutofit fontScale="62500" lnSpcReduction="20000"/>
          </a:bodyPr>
          <a:lstStyle/>
          <a:p>
            <a:pPr algn="just"/>
            <a:r>
              <a:rPr lang="en-IN" dirty="0"/>
              <a:t>Encryption and tokenization are both data security techniques. </a:t>
            </a:r>
            <a:r>
              <a:rPr lang="en-IN" u="sng" dirty="0">
                <a:hlinkClick r:id="rId2"/>
              </a:rPr>
              <a:t>Encryption</a:t>
            </a:r>
            <a:r>
              <a:rPr lang="en-IN" dirty="0"/>
              <a:t> scrambles sensitive data, making it unreadable without a decryption key. Tokenization replaces sensitive data with a nonsensitive substitute (a token), which has no value on its own. The growth of online and digital payments has led to a rise in these security methods, with the volume of tokenized payment transactions projected to </a:t>
            </a:r>
            <a:r>
              <a:rPr lang="en-IN" u="sng" dirty="0">
                <a:hlinkClick r:id="rId3"/>
              </a:rPr>
              <a:t>surpass one trillion globally by 2026</a:t>
            </a:r>
            <a:r>
              <a:rPr lang="en-IN" dirty="0"/>
              <a:t>.</a:t>
            </a:r>
          </a:p>
          <a:p>
            <a:pPr marL="0" indent="0" algn="just">
              <a:buNone/>
            </a:pPr>
            <a:endParaRPr lang="en-IN" b="1" dirty="0"/>
          </a:p>
          <a:p>
            <a:pPr marL="0" indent="0" algn="just">
              <a:buNone/>
            </a:pPr>
            <a:r>
              <a:rPr lang="en-IN" b="1" dirty="0"/>
              <a:t>How does encryption work?</a:t>
            </a:r>
            <a:endParaRPr lang="en-IN" dirty="0"/>
          </a:p>
          <a:p>
            <a:pPr algn="just"/>
            <a:r>
              <a:rPr lang="en-IN" dirty="0"/>
              <a:t>Encryption transforms plaintext, the readable form of data, into ciphertext, an unreadable format. It transforms data by using a cryptographic algorithm (a set of mathematical rules that dictate how the data is scrambled) and a key (a piece of information, like a password, that’s used by the algorithm to encrypt and decrypt the data).</a:t>
            </a:r>
          </a:p>
          <a:p>
            <a:pPr algn="just"/>
            <a:r>
              <a:rPr lang="en-IN" dirty="0"/>
              <a:t>Here’s a simplified example of how it works:</a:t>
            </a:r>
          </a:p>
          <a:p>
            <a:pPr algn="just"/>
            <a:r>
              <a:rPr lang="en-IN" b="1" dirty="0"/>
              <a:t>Plaintext:</a:t>
            </a:r>
            <a:r>
              <a:rPr lang="en-IN" dirty="0"/>
              <a:t> “Hello”</a:t>
            </a:r>
          </a:p>
          <a:p>
            <a:pPr algn="just"/>
            <a:r>
              <a:rPr lang="en-IN" b="1" dirty="0"/>
              <a:t>Key:</a:t>
            </a:r>
            <a:r>
              <a:rPr lang="en-IN" dirty="0"/>
              <a:t> “Secret”</a:t>
            </a:r>
          </a:p>
          <a:p>
            <a:pPr algn="just"/>
            <a:r>
              <a:rPr lang="en-IN" b="1" dirty="0"/>
              <a:t>Algorithm:</a:t>
            </a:r>
            <a:r>
              <a:rPr lang="en-IN" dirty="0"/>
              <a:t> Caesar cipher (shifts each letter in the alphabet by a certain number of places)</a:t>
            </a:r>
          </a:p>
          <a:p>
            <a:pPr algn="just"/>
            <a:r>
              <a:rPr lang="en-IN" b="1" dirty="0"/>
              <a:t>Encryption:</a:t>
            </a:r>
            <a:r>
              <a:rPr lang="en-IN" dirty="0"/>
              <a:t> The algorithm, using the key “Secret,” shifts each letter in “Hello” by three places, resulting in the ciphertext “</a:t>
            </a:r>
            <a:r>
              <a:rPr lang="en-IN" dirty="0" err="1"/>
              <a:t>Khoor</a:t>
            </a:r>
            <a:r>
              <a:rPr lang="en-IN" dirty="0"/>
              <a:t>.”</a:t>
            </a:r>
          </a:p>
          <a:p>
            <a:pPr algn="just"/>
            <a:r>
              <a:rPr lang="en-IN" dirty="0"/>
              <a:t>Only someone with the correct key (“Secret”) and knowledge of the algorithm (Caesar cipher) would be able to decrypt the ciphertext back into the original plaintext.</a:t>
            </a:r>
          </a:p>
          <a:p>
            <a:pPr algn="just"/>
            <a:r>
              <a:rPr lang="en-IN" dirty="0"/>
              <a:t>There are many different types of encryption algorithms, each with varying levels of complexity and security. Some commonly used algorithms include </a:t>
            </a:r>
            <a:r>
              <a:rPr lang="en-IN" u="sng" dirty="0">
                <a:hlinkClick r:id="rId4"/>
              </a:rPr>
              <a:t>Advanced Encryption Standard (AES)</a:t>
            </a:r>
            <a:r>
              <a:rPr lang="en-IN" dirty="0"/>
              <a:t> and </a:t>
            </a:r>
            <a:r>
              <a:rPr lang="en-IN" u="sng" dirty="0">
                <a:hlinkClick r:id="rId5"/>
              </a:rPr>
              <a:t>Rivest-Shamir-Adleman (RSA)</a:t>
            </a:r>
            <a:r>
              <a:rPr lang="en-IN" dirty="0"/>
              <a:t>.</a:t>
            </a:r>
          </a:p>
          <a:p>
            <a:pPr algn="just"/>
            <a:r>
              <a:rPr lang="en-IN" dirty="0"/>
              <a:t>The encryption’s strength depends on several factors, including the algorithm used, the key’s length and complexity, and the security of the systems for storing and transmitting encrypted data.</a:t>
            </a:r>
          </a:p>
          <a:p>
            <a:endParaRPr lang="en-US" dirty="0"/>
          </a:p>
        </p:txBody>
      </p:sp>
    </p:spTree>
    <p:extLst>
      <p:ext uri="{BB962C8B-B14F-4D97-AF65-F5344CB8AC3E}">
        <p14:creationId xmlns:p14="http://schemas.microsoft.com/office/powerpoint/2010/main" val="29914438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1DABAD-03ED-0802-7D1A-795F188085DD}"/>
              </a:ext>
            </a:extLst>
          </p:cNvPr>
          <p:cNvSpPr>
            <a:spLocks noGrp="1"/>
          </p:cNvSpPr>
          <p:nvPr>
            <p:ph idx="1"/>
          </p:nvPr>
        </p:nvSpPr>
        <p:spPr>
          <a:xfrm>
            <a:off x="374073" y="304800"/>
            <a:ext cx="13535891" cy="7162800"/>
          </a:xfrm>
        </p:spPr>
        <p:txBody>
          <a:bodyPr>
            <a:normAutofit fontScale="85000" lnSpcReduction="10000"/>
          </a:bodyPr>
          <a:lstStyle/>
          <a:p>
            <a:r>
              <a:rPr lang="en-IN" b="1" dirty="0"/>
              <a:t>How does tokenization work?</a:t>
            </a:r>
            <a:endParaRPr lang="en-IN" dirty="0"/>
          </a:p>
          <a:p>
            <a:pPr algn="just"/>
            <a:r>
              <a:rPr lang="en-IN" dirty="0"/>
              <a:t>Tokenization substitutes sensitive data such as a </a:t>
            </a:r>
            <a:r>
              <a:rPr lang="en-IN" u="sng" dirty="0">
                <a:hlinkClick r:id="rId2"/>
              </a:rPr>
              <a:t>credit card</a:t>
            </a:r>
            <a:r>
              <a:rPr lang="en-IN" dirty="0"/>
              <a:t> number, social security number, and any other confidential information with a nonsensitive, randomly generated equivalent called a token. </a:t>
            </a:r>
          </a:p>
          <a:p>
            <a:pPr algn="just"/>
            <a:r>
              <a:rPr lang="en-IN" dirty="0"/>
              <a:t>This token is a string of characters that has no inherent value or meaning. Even if a token is compromised, it is useless to an attacker because it does not contain sensitive information. </a:t>
            </a:r>
          </a:p>
          <a:p>
            <a:pPr algn="just"/>
            <a:r>
              <a:rPr lang="en-IN" dirty="0"/>
              <a:t>There are numerous uses for tokens, making them a versatile tool for protecting sensitive data.</a:t>
            </a:r>
          </a:p>
          <a:p>
            <a:pPr algn="just"/>
            <a:r>
              <a:rPr lang="en-IN" dirty="0"/>
              <a:t>Tokenization systems manage the tokens and their relationship with the original data. These systems store the original sensitive data in a highly secure environment; this is often referred to as a token vault, which is isolated and protected from unauthorized access. </a:t>
            </a:r>
          </a:p>
          <a:p>
            <a:pPr algn="just"/>
            <a:r>
              <a:rPr lang="en-IN" dirty="0"/>
              <a:t>The system will then use the token instead of the original data when completing processes like transactions. In some cases, the system can retrieve the original sensitive data from the token vault using a process called detokenization, but it typically does so only when absolutely necessary and under strict security controls. </a:t>
            </a:r>
          </a:p>
          <a:p>
            <a:pPr algn="just"/>
            <a:r>
              <a:rPr lang="en-IN" dirty="0"/>
              <a:t>Tokens are irreversible by design, meaning they cannot be used to derive the original sensitive data without access to the token vault.</a:t>
            </a:r>
          </a:p>
          <a:p>
            <a:endParaRPr lang="en-US" dirty="0"/>
          </a:p>
        </p:txBody>
      </p:sp>
    </p:spTree>
    <p:extLst>
      <p:ext uri="{BB962C8B-B14F-4D97-AF65-F5344CB8AC3E}">
        <p14:creationId xmlns:p14="http://schemas.microsoft.com/office/powerpoint/2010/main" val="5541484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2CC685-3B23-9884-22DA-B03437B6D9B0}"/>
              </a:ext>
            </a:extLst>
          </p:cNvPr>
          <p:cNvSpPr>
            <a:spLocks noGrp="1"/>
          </p:cNvSpPr>
          <p:nvPr>
            <p:ph idx="1"/>
          </p:nvPr>
        </p:nvSpPr>
        <p:spPr>
          <a:xfrm>
            <a:off x="318655" y="498764"/>
            <a:ext cx="13189527" cy="6982691"/>
          </a:xfrm>
        </p:spPr>
        <p:txBody>
          <a:bodyPr>
            <a:normAutofit fontScale="62500" lnSpcReduction="20000"/>
          </a:bodyPr>
          <a:lstStyle/>
          <a:p>
            <a:pPr marL="0" indent="0">
              <a:buNone/>
            </a:pPr>
            <a:r>
              <a:rPr lang="en-IN" b="1" dirty="0"/>
              <a:t>What is tokenization used for?</a:t>
            </a:r>
            <a:endParaRPr lang="en-IN" dirty="0"/>
          </a:p>
          <a:p>
            <a:pPr marL="0" indent="0">
              <a:buNone/>
            </a:pPr>
            <a:r>
              <a:rPr lang="en-IN" dirty="0"/>
              <a:t>Tokenization keeps sensitive data secure and private in a wide range of industries and applications. Here are some common use cases:</a:t>
            </a:r>
          </a:p>
          <a:p>
            <a:pPr algn="just"/>
            <a:r>
              <a:rPr lang="en-IN" b="1" dirty="0"/>
              <a:t>Payment Card Industry Data Security Standard (PCI DSS):</a:t>
            </a:r>
            <a:r>
              <a:rPr lang="en-IN" dirty="0"/>
              <a:t> Tokenization protects credit card data. It helps merchants and payment processors comply with PCI DSS regulations by reducing the risk of data breaches and fraud.</a:t>
            </a:r>
          </a:p>
          <a:p>
            <a:pPr algn="just"/>
            <a:endParaRPr lang="en-IN" dirty="0"/>
          </a:p>
          <a:p>
            <a:pPr algn="just"/>
            <a:r>
              <a:rPr lang="en-IN" b="1" dirty="0"/>
              <a:t>Ecommerce:</a:t>
            </a:r>
            <a:r>
              <a:rPr lang="en-IN" dirty="0"/>
              <a:t> Tokenization secures online transactions, protecting customer payment information during processing and storage. This helps protect both businesses and customers from financial losses due to unauthorized access to card data.</a:t>
            </a:r>
          </a:p>
          <a:p>
            <a:pPr algn="just"/>
            <a:endParaRPr lang="en-IN" dirty="0"/>
          </a:p>
          <a:p>
            <a:pPr algn="just"/>
            <a:r>
              <a:rPr lang="en-IN" b="1" dirty="0"/>
              <a:t>Healthcare:</a:t>
            </a:r>
            <a:r>
              <a:rPr lang="en-IN" dirty="0"/>
              <a:t> Tokenization protects patient health information (PHI) by replacing sensitive data elements like Social Security numbers or medical ID numbers with tokens. This helps healthcare providers comply with </a:t>
            </a:r>
            <a:r>
              <a:rPr lang="en-IN" u="sng" dirty="0">
                <a:hlinkClick r:id="rId2"/>
              </a:rPr>
              <a:t>Health Insurance Portability and Accountability Act (HIPAA) regulations</a:t>
            </a:r>
            <a:r>
              <a:rPr lang="en-IN" dirty="0"/>
              <a:t> and protect patients’ privacy.</a:t>
            </a:r>
          </a:p>
          <a:p>
            <a:pPr algn="just"/>
            <a:endParaRPr lang="en-IN" dirty="0"/>
          </a:p>
          <a:p>
            <a:pPr algn="just"/>
            <a:r>
              <a:rPr lang="en-IN" b="1" dirty="0"/>
              <a:t>Financial services:</a:t>
            </a:r>
            <a:r>
              <a:rPr lang="en-IN" dirty="0"/>
              <a:t> Financial applications like </a:t>
            </a:r>
            <a:r>
              <a:rPr lang="en-IN" u="sng" dirty="0">
                <a:hlinkClick r:id="rId3"/>
              </a:rPr>
              <a:t>mobile payments</a:t>
            </a:r>
            <a:r>
              <a:rPr lang="en-IN" dirty="0"/>
              <a:t>, peer-to-peer transactions, and account linking use tokenization to protect sensitive financial data from unauthorized access and fraud.</a:t>
            </a:r>
          </a:p>
          <a:p>
            <a:pPr algn="just"/>
            <a:endParaRPr lang="en-IN" dirty="0"/>
          </a:p>
          <a:p>
            <a:pPr algn="just"/>
            <a:r>
              <a:rPr lang="en-IN" b="1" dirty="0"/>
              <a:t>Loyalty programs:</a:t>
            </a:r>
            <a:r>
              <a:rPr lang="en-IN" dirty="0"/>
              <a:t> Tokenization secures data from customer loyalty programs, including rewards points or membership numbers, to protect customers’ information and prevent misuse.</a:t>
            </a:r>
          </a:p>
          <a:p>
            <a:pPr algn="just"/>
            <a:endParaRPr lang="en-IN" dirty="0"/>
          </a:p>
          <a:p>
            <a:pPr algn="just"/>
            <a:r>
              <a:rPr lang="en-IN" b="1" dirty="0"/>
              <a:t>Data storage:</a:t>
            </a:r>
            <a:r>
              <a:rPr lang="en-IN" dirty="0"/>
              <a:t> Tokenization protects sensitive data stored in databases or the cloud, reducing the risk of data breaches and keeping information confidential.</a:t>
            </a:r>
          </a:p>
          <a:p>
            <a:pPr algn="just"/>
            <a:endParaRPr lang="en-IN" dirty="0"/>
          </a:p>
          <a:p>
            <a:pPr algn="just"/>
            <a:r>
              <a:rPr lang="en-IN" b="1" dirty="0"/>
              <a:t>Government and public sector:</a:t>
            </a:r>
            <a:r>
              <a:rPr lang="en-IN" dirty="0"/>
              <a:t> Tokenization protects sensitive government and public sector data like identification information, tax records, and Social Security numbers.</a:t>
            </a:r>
          </a:p>
          <a:p>
            <a:endParaRPr lang="en-US" dirty="0"/>
          </a:p>
        </p:txBody>
      </p:sp>
    </p:spTree>
    <p:extLst>
      <p:ext uri="{BB962C8B-B14F-4D97-AF65-F5344CB8AC3E}">
        <p14:creationId xmlns:p14="http://schemas.microsoft.com/office/powerpoint/2010/main" val="39480543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01BD4C-EF10-184B-FDE1-89122413CD16}"/>
              </a:ext>
            </a:extLst>
          </p:cNvPr>
          <p:cNvSpPr>
            <a:spLocks noGrp="1"/>
          </p:cNvSpPr>
          <p:nvPr>
            <p:ph idx="1"/>
          </p:nvPr>
        </p:nvSpPr>
        <p:spPr>
          <a:xfrm>
            <a:off x="415637" y="429491"/>
            <a:ext cx="13369636" cy="7051965"/>
          </a:xfrm>
        </p:spPr>
        <p:txBody>
          <a:bodyPr>
            <a:normAutofit fontScale="70000" lnSpcReduction="20000"/>
          </a:bodyPr>
          <a:lstStyle/>
          <a:p>
            <a:r>
              <a:rPr lang="en-IN" b="1" dirty="0"/>
              <a:t>Tokenization vs. encryption: Key differences and how they work together</a:t>
            </a:r>
            <a:endParaRPr lang="en-IN" dirty="0"/>
          </a:p>
          <a:p>
            <a:pPr marL="0" indent="0" algn="just">
              <a:buNone/>
            </a:pPr>
            <a:r>
              <a:rPr lang="en-IN" dirty="0"/>
              <a:t>Tokenization and encryption are complementary data security techniques that are often used together. Encryption transforms plaintext data into an unreadable format (ciphertext) using a cryptographic algorithm and a key. Tokenization substitutes sensitive data with a surrogate value known as a token, which has no intrinsic value or meaning and bears no mathematical relationship to the original data.</a:t>
            </a:r>
          </a:p>
          <a:p>
            <a:pPr algn="just"/>
            <a:r>
              <a:rPr lang="en-IN" dirty="0"/>
              <a:t>Here’s some of their distinctions and functional overlap:</a:t>
            </a:r>
          </a:p>
          <a:p>
            <a:pPr marL="0" indent="0" algn="just">
              <a:buNone/>
            </a:pPr>
            <a:r>
              <a:rPr lang="en-IN" dirty="0"/>
              <a:t>Technique                       Encryption    										Tokenization </a:t>
            </a:r>
          </a:p>
          <a:p>
            <a:pPr marL="0" indent="0" algn="just">
              <a:buNone/>
            </a:pPr>
            <a:r>
              <a:rPr lang="en-IN" b="1" dirty="0"/>
              <a:t>                   Reversibility</a:t>
            </a:r>
            <a:r>
              <a:rPr lang="en-IN" dirty="0"/>
              <a:t> Reversible with the correct key              Irreversible without access to the token vault </a:t>
            </a:r>
          </a:p>
          <a:p>
            <a:pPr marL="0" indent="0" algn="just">
              <a:buNone/>
            </a:pPr>
            <a:r>
              <a:rPr lang="en-IN" b="1" dirty="0"/>
              <a:t>                   Data format</a:t>
            </a:r>
            <a:r>
              <a:rPr lang="en-IN" dirty="0"/>
              <a:t> Alters the original data structure            Preserves the original data format </a:t>
            </a:r>
          </a:p>
          <a:p>
            <a:pPr marL="0" indent="0" algn="just">
              <a:buNone/>
            </a:pPr>
            <a:r>
              <a:rPr lang="en-IN" b="1" dirty="0"/>
              <a:t>                   Security focus</a:t>
            </a:r>
            <a:r>
              <a:rPr lang="en-IN" dirty="0"/>
              <a:t> Protects data at rest and in transit      Primarily protects data at rest </a:t>
            </a:r>
          </a:p>
          <a:p>
            <a:pPr marL="0" indent="0" algn="just">
              <a:buNone/>
            </a:pPr>
            <a:r>
              <a:rPr lang="en-IN" b="1" dirty="0"/>
              <a:t>                   Compliance</a:t>
            </a:r>
            <a:r>
              <a:rPr lang="en-IN" dirty="0"/>
              <a:t> Helps meet compliance requirements   Facilitates compliance by removing sensitive data      </a:t>
            </a:r>
          </a:p>
          <a:p>
            <a:pPr marL="0" indent="0" algn="just">
              <a:buNone/>
            </a:pPr>
            <a:r>
              <a:rPr lang="en-IN" dirty="0"/>
              <a:t>                                      but might not fully isolate sensitive data. from the environment </a:t>
            </a:r>
          </a:p>
          <a:p>
            <a:pPr marL="0" indent="0" algn="just">
              <a:buNone/>
            </a:pPr>
            <a:r>
              <a:rPr lang="en-IN" b="1" dirty="0"/>
              <a:t>                 Use cases</a:t>
            </a:r>
            <a:r>
              <a:rPr lang="en-IN" dirty="0"/>
              <a:t>  Ideal for data that needs to be read and     Best for data that needs to be referenced but not 					      processed in its original form                         revealed</a:t>
            </a:r>
          </a:p>
          <a:p>
            <a:pPr algn="just"/>
            <a:r>
              <a:rPr lang="en-IN" dirty="0"/>
              <a:t>Tokenization and encryption together can create a layered </a:t>
            </a:r>
            <a:r>
              <a:rPr lang="en-IN" u="sng" dirty="0">
                <a:hlinkClick r:id="rId2"/>
              </a:rPr>
              <a:t>security approach</a:t>
            </a:r>
            <a:r>
              <a:rPr lang="en-IN" dirty="0"/>
              <a:t>. Here’s a closer look at how they work together:</a:t>
            </a:r>
          </a:p>
          <a:p>
            <a:pPr algn="just"/>
            <a:r>
              <a:rPr lang="en-IN" b="1" dirty="0"/>
              <a:t>Tokenization for storage:</a:t>
            </a:r>
            <a:r>
              <a:rPr lang="en-IN" dirty="0"/>
              <a:t> A user tokenizes sensitive data and stores it in a database.</a:t>
            </a:r>
          </a:p>
          <a:p>
            <a:pPr algn="just"/>
            <a:r>
              <a:rPr lang="en-IN" b="1" dirty="0"/>
              <a:t>Encryption for transmission:</a:t>
            </a:r>
            <a:r>
              <a:rPr lang="en-IN" dirty="0"/>
              <a:t> When tokens need to be transmitted for purposes like payment processing, the user can encrypt them for secure communication.</a:t>
            </a:r>
          </a:p>
          <a:p>
            <a:pPr algn="just"/>
            <a:r>
              <a:rPr lang="en-IN" b="1" dirty="0"/>
              <a:t>Detokenization (if necessary):</a:t>
            </a:r>
            <a:r>
              <a:rPr lang="en-IN" dirty="0"/>
              <a:t> In specific scenarios that require access to the original data, authorized parties can use the token vault to detokenize the data under strict security protocols.</a:t>
            </a:r>
          </a:p>
          <a:p>
            <a:endParaRPr lang="en-US" dirty="0"/>
          </a:p>
        </p:txBody>
      </p:sp>
    </p:spTree>
    <p:extLst>
      <p:ext uri="{BB962C8B-B14F-4D97-AF65-F5344CB8AC3E}">
        <p14:creationId xmlns:p14="http://schemas.microsoft.com/office/powerpoint/2010/main" val="229094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F79F9F-E94E-1859-D237-CCA6469BE32F}"/>
              </a:ext>
            </a:extLst>
          </p:cNvPr>
          <p:cNvSpPr>
            <a:spLocks noGrp="1"/>
          </p:cNvSpPr>
          <p:nvPr>
            <p:ph idx="1"/>
          </p:nvPr>
        </p:nvSpPr>
        <p:spPr>
          <a:xfrm>
            <a:off x="346365" y="471055"/>
            <a:ext cx="13244944" cy="7312457"/>
          </a:xfrm>
        </p:spPr>
        <p:txBody>
          <a:bodyPr>
            <a:normAutofit fontScale="70000" lnSpcReduction="20000"/>
          </a:bodyPr>
          <a:lstStyle/>
          <a:p>
            <a:r>
              <a:rPr lang="en-IN" b="1" dirty="0"/>
              <a:t>An example of using tokenization and encryption together</a:t>
            </a:r>
            <a:endParaRPr lang="en-IN" dirty="0"/>
          </a:p>
          <a:p>
            <a:r>
              <a:rPr lang="en-IN" dirty="0"/>
              <a:t>A retailer is storing customer credit card information. Instead of storing the actual card numbers, they use tokenization to replace them with tokens. The retailer uses the tokens for transactions, while the actual card numbers are securely stored in a token vault and encrypted for additional protection.</a:t>
            </a:r>
          </a:p>
          <a:p>
            <a:r>
              <a:rPr lang="en-IN" b="1" dirty="0"/>
              <a:t>Best practices for using encryption and tokenization in your business</a:t>
            </a:r>
            <a:endParaRPr lang="en-IN" dirty="0"/>
          </a:p>
          <a:p>
            <a:r>
              <a:rPr lang="en-IN" dirty="0"/>
              <a:t>Encryption and tokenization are important components of a robust data security system. Here are some best practices for implementing effective, compliant security standards:</a:t>
            </a:r>
          </a:p>
          <a:p>
            <a:r>
              <a:rPr lang="en-IN" b="1" dirty="0"/>
              <a:t>Compliance:</a:t>
            </a:r>
            <a:r>
              <a:rPr lang="en-IN" dirty="0"/>
              <a:t> Understand the relevant data protection regulations in your industry (e.g., PCI DSS, HIPAA, General Data Protection Regulation [GDPR]) to ensure your encryption and tokenization practices are in compliance.</a:t>
            </a:r>
          </a:p>
          <a:p>
            <a:r>
              <a:rPr lang="en-IN" b="1" dirty="0"/>
              <a:t>Security audits:</a:t>
            </a:r>
            <a:r>
              <a:rPr lang="en-IN" dirty="0"/>
              <a:t> Regularly review and audit your encryption and tokenization processes to identify potential weaknesses and vulnerabilities.</a:t>
            </a:r>
          </a:p>
          <a:p>
            <a:r>
              <a:rPr lang="en-IN" b="1" dirty="0"/>
              <a:t>Employee training:</a:t>
            </a:r>
            <a:r>
              <a:rPr lang="en-IN" dirty="0"/>
              <a:t> Educate your employees on the importance of data security and the proper handling of sensitive information.</a:t>
            </a:r>
          </a:p>
          <a:p>
            <a:r>
              <a:rPr lang="en-IN" b="1" dirty="0"/>
              <a:t>Incident response plan:</a:t>
            </a:r>
            <a:r>
              <a:rPr lang="en-IN" dirty="0"/>
              <a:t> Plan a quick, effective response to possible security breaches.</a:t>
            </a:r>
          </a:p>
          <a:p>
            <a:r>
              <a:rPr lang="en-IN" b="1" dirty="0"/>
              <a:t>Encryption</a:t>
            </a:r>
            <a:endParaRPr lang="en-IN" dirty="0"/>
          </a:p>
          <a:p>
            <a:r>
              <a:rPr lang="en-IN" dirty="0"/>
              <a:t>Here are some best practices for using encryption:</a:t>
            </a:r>
          </a:p>
          <a:p>
            <a:pPr marL="0" indent="0">
              <a:buNone/>
            </a:pPr>
            <a:endParaRPr lang="en-IN" dirty="0"/>
          </a:p>
          <a:p>
            <a:r>
              <a:rPr lang="en-IN" dirty="0"/>
              <a:t>Use industry-standard algorithms like AES with appropriate key lengths (e.g., AES-256). Avoid outdated or weak algorithms.</a:t>
            </a:r>
          </a:p>
          <a:p>
            <a:r>
              <a:rPr lang="en-IN" dirty="0"/>
              <a:t>Protect your encryption keys. Store them securely, tightly control access, and regularly rotate them. </a:t>
            </a:r>
          </a:p>
          <a:p>
            <a:r>
              <a:rPr lang="en-IN" dirty="0"/>
              <a:t>Encrypt sensitive data when it’s stored on your servers, in the cloud, and when it’s transmitted over networks.</a:t>
            </a:r>
          </a:p>
          <a:p>
            <a:r>
              <a:rPr lang="en-IN" dirty="0"/>
              <a:t>Use secure protocols such as </a:t>
            </a:r>
            <a:r>
              <a:rPr lang="en-IN" u="sng" dirty="0">
                <a:hlinkClick r:id="rId2"/>
              </a:rPr>
              <a:t>Transport Layer Security (TLS)</a:t>
            </a:r>
            <a:r>
              <a:rPr lang="en-IN" dirty="0"/>
              <a:t> to encrypt communication channels to keep data transmitted between systems confidential.</a:t>
            </a:r>
          </a:p>
          <a:p>
            <a:pPr marL="0" indent="0">
              <a:buNone/>
            </a:pPr>
            <a:endParaRPr lang="en-US" dirty="0"/>
          </a:p>
        </p:txBody>
      </p:sp>
    </p:spTree>
    <p:extLst>
      <p:ext uri="{BB962C8B-B14F-4D97-AF65-F5344CB8AC3E}">
        <p14:creationId xmlns:p14="http://schemas.microsoft.com/office/powerpoint/2010/main" val="36218852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DFFDD1-366B-A09F-CECA-8F71A7663197}"/>
              </a:ext>
            </a:extLst>
          </p:cNvPr>
          <p:cNvSpPr>
            <a:spLocks noGrp="1"/>
          </p:cNvSpPr>
          <p:nvPr>
            <p:ph idx="1"/>
          </p:nvPr>
        </p:nvSpPr>
        <p:spPr>
          <a:xfrm>
            <a:off x="235527" y="290946"/>
            <a:ext cx="13452763" cy="7245928"/>
          </a:xfrm>
        </p:spPr>
        <p:txBody>
          <a:bodyPr>
            <a:normAutofit fontScale="77500" lnSpcReduction="20000"/>
          </a:bodyPr>
          <a:lstStyle/>
          <a:p>
            <a:pPr marL="0" indent="0">
              <a:buNone/>
            </a:pPr>
            <a:r>
              <a:rPr lang="en-IN" b="1" dirty="0"/>
              <a:t>Tokenization</a:t>
            </a:r>
            <a:endParaRPr lang="en-IN" dirty="0"/>
          </a:p>
          <a:p>
            <a:r>
              <a:rPr lang="en-IN" dirty="0"/>
              <a:t>Here are some best practices for using tokenization:</a:t>
            </a:r>
          </a:p>
          <a:p>
            <a:r>
              <a:rPr lang="en-IN" dirty="0"/>
              <a:t>Prioritize tokenization for highly sensitive data such as credit card numbers, Social Security numbers, and any personally identifiable information (PII).</a:t>
            </a:r>
          </a:p>
          <a:p>
            <a:r>
              <a:rPr lang="en-IN" dirty="0"/>
              <a:t>Store the original data and its relationship to the tokens in a secure token vault, separate from your production environment. Implement strong access controls and monitoring for the vault.</a:t>
            </a:r>
          </a:p>
          <a:p>
            <a:r>
              <a:rPr lang="en-IN" dirty="0"/>
              <a:t>Consider format-preserving tokenization (FPT) to maintain the original format of the data to simplify integration with existing systems and applications.</a:t>
            </a:r>
          </a:p>
          <a:p>
            <a:r>
              <a:rPr lang="en-IN" dirty="0"/>
              <a:t>Develop a clear policy for generating, using, and retiring tokens to ensure they are used appropriately and don’t become stale or vulnerable.</a:t>
            </a:r>
          </a:p>
          <a:p>
            <a:pPr marL="0" indent="0">
              <a:buNone/>
            </a:pPr>
            <a:endParaRPr lang="en-IN" dirty="0"/>
          </a:p>
          <a:p>
            <a:pPr marL="0" indent="0">
              <a:buNone/>
            </a:pPr>
            <a:r>
              <a:rPr lang="en-IN" b="1" dirty="0"/>
              <a:t>Combining encryption and tokenization</a:t>
            </a:r>
            <a:endParaRPr lang="en-IN" dirty="0"/>
          </a:p>
          <a:p>
            <a:r>
              <a:rPr lang="en-IN" dirty="0"/>
              <a:t>Here are some best practices for combining encryption and tokenization in your security system:</a:t>
            </a:r>
          </a:p>
          <a:p>
            <a:r>
              <a:rPr lang="en-IN" dirty="0"/>
              <a:t>Combine the strengths of both techniques for greater security. Encrypt tokenized data to further protect it during transmission.</a:t>
            </a:r>
          </a:p>
          <a:p>
            <a:r>
              <a:rPr lang="en-IN" dirty="0"/>
              <a:t>Use tokenization for the most sensitive data and encrypt other sensitive information to balance security with performance and usability.</a:t>
            </a:r>
          </a:p>
          <a:p>
            <a:r>
              <a:rPr lang="en-IN" dirty="0"/>
              <a:t>Evaluate the risk associated with different types of data and apply appropriate protection measures accordingly. Not all types of data need the same level of security.</a:t>
            </a:r>
          </a:p>
          <a:p>
            <a:endParaRPr lang="en-US" dirty="0"/>
          </a:p>
        </p:txBody>
      </p:sp>
    </p:spTree>
    <p:extLst>
      <p:ext uri="{BB962C8B-B14F-4D97-AF65-F5344CB8AC3E}">
        <p14:creationId xmlns:p14="http://schemas.microsoft.com/office/powerpoint/2010/main" val="34237839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B42439-CD0C-F6A8-C213-3E32F8C119BC}"/>
              </a:ext>
            </a:extLst>
          </p:cNvPr>
          <p:cNvSpPr>
            <a:spLocks noGrp="1"/>
          </p:cNvSpPr>
          <p:nvPr>
            <p:ph idx="1"/>
          </p:nvPr>
        </p:nvSpPr>
        <p:spPr>
          <a:xfrm>
            <a:off x="441960" y="624840"/>
            <a:ext cx="12938760" cy="6934200"/>
          </a:xfrm>
        </p:spPr>
        <p:txBody>
          <a:bodyPr>
            <a:normAutofit fontScale="70000" lnSpcReduction="20000"/>
          </a:bodyPr>
          <a:lstStyle/>
          <a:p>
            <a:pPr marL="0" indent="0" algn="just">
              <a:buNone/>
            </a:pPr>
            <a:r>
              <a:rPr lang="en-IN" b="1" dirty="0"/>
              <a:t>What is PCI compliance?</a:t>
            </a:r>
          </a:p>
          <a:p>
            <a:pPr marL="0" indent="0" algn="just">
              <a:buNone/>
            </a:pPr>
            <a:endParaRPr lang="en-IN" dirty="0"/>
          </a:p>
          <a:p>
            <a:pPr algn="just"/>
            <a:r>
              <a:rPr lang="en-IN" dirty="0"/>
              <a:t>The term “PCI compliance” is actually referring to compliance to the </a:t>
            </a:r>
            <a:r>
              <a:rPr lang="en-IN" u="sng" dirty="0">
                <a:hlinkClick r:id="rId3"/>
              </a:rPr>
              <a:t>PCI DSS</a:t>
            </a:r>
            <a:r>
              <a:rPr lang="en-IN" dirty="0"/>
              <a:t> - the Payment Card Industry Data Security Standard. This is a set of standards and requirements established by the PCI Security Standards Council to make sure that when customers use their credit cards (including online), businesses are taking steps to protect customers’ payment data.</a:t>
            </a:r>
          </a:p>
          <a:p>
            <a:pPr marL="0" indent="0" algn="just">
              <a:buNone/>
            </a:pPr>
            <a:endParaRPr lang="en-IN" dirty="0"/>
          </a:p>
          <a:p>
            <a:pPr algn="just"/>
            <a:r>
              <a:rPr lang="en-IN" b="1" dirty="0"/>
              <a:t>Do eCommerce businesses need to comply with PCI standards?</a:t>
            </a:r>
            <a:endParaRPr lang="en-IN" dirty="0"/>
          </a:p>
          <a:p>
            <a:pPr marL="0" indent="0" algn="just">
              <a:buNone/>
            </a:pPr>
            <a:endParaRPr lang="en-IN" dirty="0"/>
          </a:p>
          <a:p>
            <a:pPr algn="just"/>
            <a:r>
              <a:rPr lang="en-IN" dirty="0"/>
              <a:t>Does your business need to be PCI compliant? For eCommerce, the answer is yes. Every business that collects, processes, stores, or transmits payment data is responsible for complying with PCI standards.</a:t>
            </a:r>
          </a:p>
          <a:p>
            <a:pPr algn="just"/>
            <a:r>
              <a:rPr lang="en-IN" dirty="0"/>
              <a:t>Within PCI compliance, there are two types of businesses that need to adhere to the standards: </a:t>
            </a:r>
            <a:r>
              <a:rPr lang="en-IN" u="sng" dirty="0">
                <a:hlinkClick r:id="rId4"/>
              </a:rPr>
              <a:t>merchants</a:t>
            </a:r>
            <a:r>
              <a:rPr lang="en-IN" dirty="0"/>
              <a:t> and </a:t>
            </a:r>
            <a:r>
              <a:rPr lang="en-IN" u="sng" dirty="0">
                <a:hlinkClick r:id="rId5"/>
              </a:rPr>
              <a:t>service providers</a:t>
            </a:r>
            <a:r>
              <a:rPr lang="en-IN" dirty="0"/>
              <a:t>. For purposes of eCommerce compliance, eCommerce businesses are merchants. Service providers include any other businesses that come into contact with your customers’ data, like your cloud provider.</a:t>
            </a:r>
          </a:p>
          <a:p>
            <a:pPr marL="0" indent="0" algn="just">
              <a:buNone/>
            </a:pPr>
            <a:endParaRPr lang="en-IN" dirty="0"/>
          </a:p>
          <a:p>
            <a:pPr algn="just"/>
            <a:r>
              <a:rPr lang="en-IN" b="1" dirty="0"/>
              <a:t>Why is PCI compliance for eCommerce sites so important?</a:t>
            </a:r>
            <a:endParaRPr lang="en-IN" dirty="0"/>
          </a:p>
          <a:p>
            <a:pPr marL="0" indent="0" algn="just">
              <a:buNone/>
            </a:pPr>
            <a:endParaRPr lang="en-IN" dirty="0"/>
          </a:p>
          <a:p>
            <a:pPr algn="just"/>
            <a:r>
              <a:rPr lang="en-IN" dirty="0"/>
              <a:t>Unlike some privacy requirements like </a:t>
            </a:r>
            <a:r>
              <a:rPr lang="en-IN" u="sng" dirty="0">
                <a:hlinkClick r:id="rId6"/>
              </a:rPr>
              <a:t>GDPR</a:t>
            </a:r>
            <a:r>
              <a:rPr lang="en-IN" dirty="0"/>
              <a:t>, PCI compliance is not a legal or regulatory requirement. It’s an industry-wide requirement that is enforced by major banks and credit card companies like Visa and MasterCard. These companies can leverage serious fines against your business if you don’t comply.</a:t>
            </a:r>
          </a:p>
          <a:p>
            <a:pPr marL="0" indent="0" algn="just">
              <a:buNone/>
            </a:pPr>
            <a:endParaRPr lang="en-IN" dirty="0"/>
          </a:p>
          <a:p>
            <a:endParaRPr lang="en-US" dirty="0"/>
          </a:p>
        </p:txBody>
      </p:sp>
    </p:spTree>
    <p:extLst>
      <p:ext uri="{BB962C8B-B14F-4D97-AF65-F5344CB8AC3E}">
        <p14:creationId xmlns:p14="http://schemas.microsoft.com/office/powerpoint/2010/main" val="21065174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4287500" cy="8058150"/>
          </a:xfrm>
          <a:prstGeom prst="rect">
            <a:avLst/>
          </a:prstGeom>
        </p:spPr>
      </p:pic>
      <p:sp>
        <p:nvSpPr>
          <p:cNvPr id="3" name="Title 2">
            <a:extLst>
              <a:ext uri="{FF2B5EF4-FFF2-40B4-BE49-F238E27FC236}">
                <a16:creationId xmlns:a16="http://schemas.microsoft.com/office/drawing/2014/main" id="{F4951307-9C10-C3EE-8662-F3AE343457DE}"/>
              </a:ext>
            </a:extLst>
          </p:cNvPr>
          <p:cNvSpPr>
            <a:spLocks noGrp="1"/>
          </p:cNvSpPr>
          <p:nvPr>
            <p:ph type="title"/>
          </p:nvPr>
        </p:nvSpPr>
        <p:spPr>
          <a:xfrm>
            <a:off x="457200" y="274638"/>
            <a:ext cx="11734800" cy="1143000"/>
          </a:xfrm>
        </p:spPr>
        <p:txBody>
          <a:bodyPr/>
          <a:lstStyle/>
          <a:p>
            <a:r>
              <a:rPr lang="en-US" dirty="0"/>
              <a:t>General Data Protection Regulation</a:t>
            </a:r>
          </a:p>
        </p:txBody>
      </p:sp>
      <p:sp>
        <p:nvSpPr>
          <p:cNvPr id="4" name="Content Placeholder 3">
            <a:extLst>
              <a:ext uri="{FF2B5EF4-FFF2-40B4-BE49-F238E27FC236}">
                <a16:creationId xmlns:a16="http://schemas.microsoft.com/office/drawing/2014/main" id="{E3406048-935E-BD81-3889-1E74A235752B}"/>
              </a:ext>
            </a:extLst>
          </p:cNvPr>
          <p:cNvSpPr>
            <a:spLocks noGrp="1"/>
          </p:cNvSpPr>
          <p:nvPr>
            <p:ph idx="1"/>
          </p:nvPr>
        </p:nvSpPr>
        <p:spPr>
          <a:xfrm>
            <a:off x="457200" y="1417638"/>
            <a:ext cx="13197840" cy="6365874"/>
          </a:xfrm>
        </p:spPr>
        <p:txBody>
          <a:bodyPr>
            <a:normAutofit fontScale="85000" lnSpcReduction="10000"/>
          </a:bodyPr>
          <a:lstStyle/>
          <a:p>
            <a:r>
              <a:rPr lang="en-IN" dirty="0"/>
              <a:t>In the digital age, ecommerce businesses thrive on personal data information about customers, their preferences, buying habits, and more. However, with the increasing reliance on customer data comes the responsibility to protect it. </a:t>
            </a:r>
          </a:p>
          <a:p>
            <a:r>
              <a:rPr lang="en-IN" dirty="0"/>
              <a:t>The General Data Protection Regulation (GDPR) is a comprehensive data protection law that impacts any business that handles the personal data of European Union (EU) citizens or residents, including ecommerce businesses..</a:t>
            </a:r>
          </a:p>
          <a:p>
            <a:r>
              <a:rPr lang="en-IN" b="1" dirty="0"/>
              <a:t>Why should ecommerce businesses care about GDPR?</a:t>
            </a:r>
            <a:endParaRPr lang="en-IN" dirty="0"/>
          </a:p>
          <a:p>
            <a:pPr marL="0" indent="0">
              <a:buNone/>
            </a:pPr>
            <a:r>
              <a:rPr lang="en-IN" dirty="0"/>
              <a:t>Here are a few key reasons why ecommerce businesses should prioritise GDPR compliance:</a:t>
            </a:r>
          </a:p>
          <a:p>
            <a:r>
              <a:rPr lang="en-IN" b="1" dirty="0"/>
              <a:t>Protecting customer trust</a:t>
            </a:r>
          </a:p>
          <a:p>
            <a:r>
              <a:rPr lang="en-IN" b="1" dirty="0"/>
              <a:t>Avoiding hefty fines</a:t>
            </a:r>
            <a:endParaRPr lang="en-IN" dirty="0"/>
          </a:p>
          <a:p>
            <a:r>
              <a:rPr lang="en-IN" b="1" dirty="0"/>
              <a:t>Enhancing data security</a:t>
            </a:r>
            <a:endParaRPr lang="en-IN" dirty="0"/>
          </a:p>
          <a:p>
            <a:r>
              <a:rPr lang="en-IN" b="1" dirty="0"/>
              <a:t>Gaining a competitive advantage</a:t>
            </a:r>
            <a:endParaRPr lang="en-IN" dirty="0"/>
          </a:p>
          <a:p>
            <a:r>
              <a:rPr lang="en-IN" dirty="0"/>
              <a:t>Research </a:t>
            </a:r>
            <a:r>
              <a:rPr lang="en-IN" u="sng" dirty="0">
                <a:hlinkClick r:id="rId4"/>
              </a:rPr>
              <a:t>says</a:t>
            </a:r>
            <a:r>
              <a:rPr lang="en-IN" dirty="0"/>
              <a:t> many ecommerce companies had to alter their practices and analytics tools to achieve GDPR compliance. This reflects the widespread impact of GDPR on day-to-day operations and the need for businesses to adapt to maintain compliance continuously.</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4287500" cy="8058150"/>
          </a:xfrm>
          <a:prstGeom prst="rect">
            <a:avLst/>
          </a:prstGeom>
        </p:spPr>
      </p:pic>
      <p:sp>
        <p:nvSpPr>
          <p:cNvPr id="3" name="Title 2">
            <a:extLst>
              <a:ext uri="{FF2B5EF4-FFF2-40B4-BE49-F238E27FC236}">
                <a16:creationId xmlns:a16="http://schemas.microsoft.com/office/drawing/2014/main" id="{40FB59C1-0C49-1489-6B45-37D96A238EDA}"/>
              </a:ext>
            </a:extLst>
          </p:cNvPr>
          <p:cNvSpPr>
            <a:spLocks noGrp="1"/>
          </p:cNvSpPr>
          <p:nvPr>
            <p:ph type="title"/>
          </p:nvPr>
        </p:nvSpPr>
        <p:spPr>
          <a:xfrm>
            <a:off x="457200" y="274638"/>
            <a:ext cx="12633960" cy="1143000"/>
          </a:xfrm>
        </p:spPr>
        <p:txBody>
          <a:bodyPr>
            <a:normAutofit fontScale="90000"/>
          </a:bodyPr>
          <a:lstStyle/>
          <a:p>
            <a:br>
              <a:rPr lang="en-IN" b="1" dirty="0"/>
            </a:br>
            <a:r>
              <a:rPr lang="en-IN" b="1" dirty="0"/>
              <a:t>Key GDPR requirements for ecommerce</a:t>
            </a:r>
            <a:br>
              <a:rPr lang="en-IN" dirty="0"/>
            </a:br>
            <a:endParaRPr lang="en-US" dirty="0"/>
          </a:p>
        </p:txBody>
      </p:sp>
      <p:sp>
        <p:nvSpPr>
          <p:cNvPr id="4" name="Content Placeholder 3">
            <a:extLst>
              <a:ext uri="{FF2B5EF4-FFF2-40B4-BE49-F238E27FC236}">
                <a16:creationId xmlns:a16="http://schemas.microsoft.com/office/drawing/2014/main" id="{DE9C21A5-0BD3-A86D-D6C2-4807260E4F63}"/>
              </a:ext>
            </a:extLst>
          </p:cNvPr>
          <p:cNvSpPr>
            <a:spLocks noGrp="1"/>
          </p:cNvSpPr>
          <p:nvPr>
            <p:ph idx="1"/>
          </p:nvPr>
        </p:nvSpPr>
        <p:spPr>
          <a:xfrm>
            <a:off x="350520" y="1310640"/>
            <a:ext cx="13289280" cy="6035040"/>
          </a:xfrm>
        </p:spPr>
        <p:txBody>
          <a:bodyPr>
            <a:normAutofit fontScale="40000" lnSpcReduction="20000"/>
          </a:bodyPr>
          <a:lstStyle/>
          <a:p>
            <a:pPr marL="0" indent="0">
              <a:buNone/>
            </a:pPr>
            <a:r>
              <a:rPr lang="en-IN" dirty="0"/>
              <a:t>Understanding and adhering to the key GDPR requirements is essential for ecommerce businesses. Let’s break down these requirements to provide a clearer picture of what GDPR compliance entails:</a:t>
            </a:r>
          </a:p>
          <a:p>
            <a:pPr marL="0" indent="0">
              <a:buNone/>
            </a:pPr>
            <a:r>
              <a:rPr lang="en-IN" b="1" dirty="0"/>
              <a:t>Lawful basis for processing data</a:t>
            </a:r>
            <a:endParaRPr lang="en-IN" dirty="0"/>
          </a:p>
          <a:p>
            <a:pPr marL="0" indent="0">
              <a:buNone/>
            </a:pPr>
            <a:r>
              <a:rPr lang="en-IN" dirty="0"/>
              <a:t>Under GDPR, businesses must have a lawful basis for processing personal data. This can include:</a:t>
            </a:r>
          </a:p>
          <a:p>
            <a:pPr marL="0" indent="0">
              <a:buNone/>
            </a:pPr>
            <a:r>
              <a:rPr lang="en-IN" b="1" dirty="0"/>
              <a:t>Consent</a:t>
            </a:r>
            <a:r>
              <a:rPr lang="en-IN" dirty="0"/>
              <a:t>: Obtaining explicit consent from the individual before processing their data.</a:t>
            </a:r>
            <a:br>
              <a:rPr lang="en-IN" dirty="0"/>
            </a:br>
            <a:endParaRPr lang="en-IN" dirty="0"/>
          </a:p>
          <a:p>
            <a:pPr marL="0" indent="0">
              <a:buNone/>
            </a:pPr>
            <a:r>
              <a:rPr lang="en-IN" b="1" dirty="0"/>
              <a:t>Contractual necessity</a:t>
            </a:r>
            <a:r>
              <a:rPr lang="en-IN" dirty="0"/>
              <a:t>: Processing data as necessary to fulfil a contract with the individual, such as processing payments or shipping orders.</a:t>
            </a:r>
          </a:p>
          <a:p>
            <a:pPr marL="0" indent="0">
              <a:buNone/>
            </a:pPr>
            <a:endParaRPr lang="en-IN" dirty="0"/>
          </a:p>
          <a:p>
            <a:pPr marL="0" indent="0">
              <a:buNone/>
            </a:pPr>
            <a:r>
              <a:rPr lang="en-IN" b="1" dirty="0"/>
              <a:t>Legal obligation</a:t>
            </a:r>
            <a:r>
              <a:rPr lang="en-IN" dirty="0"/>
              <a:t>: Processing data to comply with a legal obligation, such as maintaining tax records.</a:t>
            </a:r>
          </a:p>
          <a:p>
            <a:pPr marL="0" indent="0">
              <a:buNone/>
            </a:pPr>
            <a:endParaRPr lang="en-IN" dirty="0"/>
          </a:p>
          <a:p>
            <a:pPr marL="0" indent="0">
              <a:buNone/>
            </a:pPr>
            <a:r>
              <a:rPr lang="en-IN" b="1" dirty="0"/>
              <a:t>Legitimate interests</a:t>
            </a:r>
            <a:r>
              <a:rPr lang="en-IN" dirty="0"/>
              <a:t>: Processing data for the business’s legitimate interests, provided the individual’s rights and freedoms do not override these interests.</a:t>
            </a:r>
          </a:p>
          <a:p>
            <a:pPr marL="0" indent="0">
              <a:buNone/>
            </a:pPr>
            <a:endParaRPr lang="en-IN" dirty="0"/>
          </a:p>
          <a:p>
            <a:pPr marL="0" indent="0">
              <a:buNone/>
            </a:pPr>
            <a:r>
              <a:rPr lang="en-IN" dirty="0"/>
              <a:t>For ecommerce businesses, consent and contractual necessity are the most commonly seen lawful bases for data processing.</a:t>
            </a:r>
          </a:p>
          <a:p>
            <a:pPr marL="0" indent="0">
              <a:buNone/>
            </a:pPr>
            <a:r>
              <a:rPr lang="en-IN" b="1" dirty="0"/>
              <a:t>Explicit consent</a:t>
            </a:r>
            <a:endParaRPr lang="en-IN" dirty="0"/>
          </a:p>
          <a:p>
            <a:pPr marL="0" indent="0">
              <a:buNone/>
            </a:pPr>
            <a:r>
              <a:rPr lang="en-IN" dirty="0"/>
              <a:t>GDPR requires businesses to obtain explicit, informed consent from customers before collecting and processing their personal data. Consent must be freely given, specific, informed, and unambiguous. This means:</a:t>
            </a:r>
          </a:p>
          <a:p>
            <a:pPr marL="0" indent="0">
              <a:buNone/>
            </a:pPr>
            <a:endParaRPr lang="en-IN" b="1" dirty="0"/>
          </a:p>
          <a:p>
            <a:pPr marL="0" indent="0">
              <a:buNone/>
            </a:pPr>
            <a:r>
              <a:rPr lang="en-IN" b="1" dirty="0"/>
              <a:t>No pre-ticked checkboxes</a:t>
            </a:r>
            <a:r>
              <a:rPr lang="en-IN" dirty="0"/>
              <a:t>: Customers must actively opt-in to data collection. Pre-ticked checkboxes are not allowed.</a:t>
            </a:r>
          </a:p>
          <a:p>
            <a:pPr marL="0" indent="0">
              <a:buNone/>
            </a:pPr>
            <a:br>
              <a:rPr lang="en-IN" dirty="0"/>
            </a:br>
            <a:endParaRPr lang="en-IN" dirty="0"/>
          </a:p>
          <a:p>
            <a:pPr marL="0" indent="0">
              <a:buNone/>
            </a:pPr>
            <a:r>
              <a:rPr lang="en-IN" b="1" dirty="0"/>
              <a:t>Clear language</a:t>
            </a:r>
            <a:r>
              <a:rPr lang="en-IN" dirty="0"/>
              <a:t>: The language used to obtain consent must be clear and easy to understand, avoiding legal jargon or complex terms.</a:t>
            </a:r>
          </a:p>
          <a:p>
            <a:pPr marL="0" indent="0">
              <a:buNone/>
            </a:pPr>
            <a:br>
              <a:rPr lang="en-IN" dirty="0"/>
            </a:br>
            <a:endParaRPr lang="en-IN" dirty="0"/>
          </a:p>
          <a:p>
            <a:pPr marL="0" indent="0">
              <a:buNone/>
            </a:pPr>
            <a:r>
              <a:rPr lang="en-IN" b="1" dirty="0"/>
              <a:t>Granular consent</a:t>
            </a:r>
            <a:r>
              <a:rPr lang="en-IN" dirty="0"/>
              <a:t>: If you are collecting data for multiple purposes (e.g. email marketing, analytics, and order processing), you must obtain separate consent for each purpose.</a:t>
            </a:r>
          </a:p>
          <a:p>
            <a:pPr marL="0" indent="0">
              <a:buNone/>
            </a:pPr>
            <a:br>
              <a:rPr lang="en-IN" dirty="0"/>
            </a:br>
            <a:endParaRPr lang="en-IN" dirty="0"/>
          </a:p>
          <a:p>
            <a:pPr marL="0" indent="0">
              <a:buNone/>
            </a:pPr>
            <a:r>
              <a:rPr lang="en-IN" dirty="0"/>
              <a:t>Customers also have the right to withdraw their consent at any time, and your ecommerce store must make it easy for them to do so by offering a simple unsubscribe option.</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TotalTime>
  <Words>7652</Words>
  <Application>Microsoft Macintosh PowerPoint</Application>
  <PresentationFormat>Custom</PresentationFormat>
  <Paragraphs>386</Paragraphs>
  <Slides>41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Aptos</vt:lpstr>
      <vt:lpstr>Arial</vt:lpstr>
      <vt:lpstr>Calibri</vt:lpstr>
      <vt:lpstr>Office Theme</vt:lpstr>
      <vt:lpstr>PowerPoint Presentation</vt:lpstr>
      <vt:lpstr> Definition of E- Commerce </vt:lpstr>
      <vt:lpstr>Main components of E-Commerce </vt:lpstr>
      <vt:lpstr>    Elements of E-Commerce security </vt:lpstr>
      <vt:lpstr>PowerPoint Presentation</vt:lpstr>
      <vt:lpstr>PowerPoint Presentation</vt:lpstr>
      <vt:lpstr>PowerPoint Presentation</vt:lpstr>
      <vt:lpstr>PowerPoint Presentation</vt:lpstr>
      <vt:lpstr> Top Solutions For E-Commerce Security Threats </vt:lpstr>
      <vt:lpstr> Introduction to Digital Payments </vt:lpstr>
      <vt:lpstr> Components of Digital Payment and Stake holders </vt:lpstr>
      <vt:lpstr>PowerPoint Presentation</vt:lpstr>
      <vt:lpstr>PowerPoint Presentation</vt:lpstr>
      <vt:lpstr>          Stakeholders </vt:lpstr>
      <vt:lpstr>PowerPoint Presentation</vt:lpstr>
      <vt:lpstr>PowerPoint Presentation</vt:lpstr>
      <vt:lpstr>Modes of digital payments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Types of credit card fraud </vt:lpstr>
      <vt:lpstr>Credit Card Fraud Vs Charge Back Fraud</vt:lpstr>
      <vt:lpstr>How card fraud impacts ecommerce merchants </vt:lpstr>
      <vt:lpstr>PowerPoint Presentation</vt:lpstr>
      <vt:lpstr>How to reduce card fraud </vt:lpstr>
      <vt:lpstr>PowerPoint Presentation</vt:lpstr>
      <vt:lpstr>PowerPoint Presentation</vt:lpstr>
      <vt:lpstr>Encryption and Tokenization</vt:lpstr>
      <vt:lpstr>PowerPoint Presentation</vt:lpstr>
      <vt:lpstr>PowerPoint Presentation</vt:lpstr>
      <vt:lpstr>PowerPoint Presentation</vt:lpstr>
      <vt:lpstr>PowerPoint Presentation</vt:lpstr>
      <vt:lpstr>PowerPoint Presentation</vt:lpstr>
      <vt:lpstr>PowerPoint Presentation</vt:lpstr>
      <vt:lpstr>General Data Protection Regulation</vt:lpstr>
      <vt:lpstr> Key GDPR requirements for ecommerce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Himanshu Gupta</cp:lastModifiedBy>
  <cp:revision>17</cp:revision>
  <dcterms:created xsi:type="dcterms:W3CDTF">2013-01-27T09:14:16Z</dcterms:created>
  <dcterms:modified xsi:type="dcterms:W3CDTF">2026-04-07T06:20:06Z</dcterms:modified>
  <cp:category/>
</cp:coreProperties>
</file>